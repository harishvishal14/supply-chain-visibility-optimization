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6" r:id="rId27"/>
    <p:sldId id="277" r:id="rId28"/>
    <p:sldId id="272" r:id="rId17"/>
    <p:sldId id="273" r:id="rId18"/>
    <p:sldId id="278" r:id="rId29"/>
    <p:sldId id="279" r:id="rId30"/>
    <p:sldId id="274" r:id="rId19"/>
    <p:sldId id="275" r:id="rId20"/>
    <p:sldId id="268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Columns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96-4CB3-ADE7-D3983B968A12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BC96-4CB3-ADE7-D3983B968A12}"/>
              </c:ext>
            </c:extLst>
          </c:dPt>
          <c:dPt>
            <c:idx val="2"/>
            <c:invertIfNegative val="0"/>
            <c:bubble3D val="0"/>
            <c:spPr>
              <a:solidFill>
                <a:srgbClr val="21C39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BC96-4CB3-ADE7-D3983B968A12}"/>
              </c:ext>
            </c:extLst>
          </c:dPt>
          <c:dLbls>
            <c:dLbl>
              <c:idx val="0"/>
              <c:numFmt formatCode="0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B2430"/>
                      </a:solidFill>
                      <a:uFillTx/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BC96-4CB3-ADE7-D3983B968A12}"/>
                </c:ext>
              </c:extLst>
            </c:dLbl>
            <c:dLbl>
              <c:idx val="1"/>
              <c:numFmt formatCode="0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B2430"/>
                      </a:solidFill>
                      <a:uFillTx/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BC96-4CB3-ADE7-D3983B968A12}"/>
                </c:ext>
              </c:extLst>
            </c:dLbl>
            <c:dLbl>
              <c:idx val="2"/>
              <c:numFmt formatCode="0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B2430"/>
                      </a:solidFill>
                      <a:uFillTx/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5-BC96-4CB3-ADE7-D3983B968A12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1" u="none" strike="noStrike">
                    <a:solidFill>
                      <a:srgbClr val="1B2430"/>
                    </a:solidFill>
                    <a:uFillTx/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1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Customer &amp; Ops</c:v>
                </c:pt>
                <c:pt idx="1">
                  <c:v>Logistics</c:v>
                </c:pt>
                <c:pt idx="2">
                  <c:v>Order &amp; 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6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96-4CB3-ADE7-D3983B968A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02966"/>
        <c:axId val="73595921"/>
      </c:barChart>
      <c:catAx>
        <c:axId val="9002966"/>
        <c:scaling>
          <c:orientation val="minMax"/>
        </c:scaling>
        <c:delete val="0"/>
        <c:axPos val="l"/>
        <c:numFmt formatCode="[$-804]yyyy/m/d" sourceLinked="0"/>
        <c:majorTickMark val="out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1B2430"/>
                </a:solidFill>
                <a:uFillTx/>
                <a:latin typeface="Calibri"/>
              </a:defRPr>
            </a:pPr>
            <a:endParaRPr lang="en-US"/>
          </a:p>
        </c:txPr>
        <c:crossAx val="73595921"/>
        <c:crosses val="autoZero"/>
        <c:auto val="1"/>
        <c:lblAlgn val="ctr"/>
        <c:lblOffset val="100"/>
        <c:noMultiLvlLbl val="0"/>
      </c:catAx>
      <c:valAx>
        <c:axId val="73595921"/>
        <c:scaling>
          <c:orientation val="minMax"/>
          <c:max val="8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900296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  <c:externalData r:id="rId1">
    <c:autoUpdate val="1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uFillTx/>
                <a:latin typeface="Noto Sans CJK SC"/>
              </a:rPr>
              <a:t>Double-tap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Noto Sans CJK SC"/>
              </a:rPr>
              <a:t>Double-tap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buNone/>
            </a:pPr>
            <a:fld id="{52FBA9D9-257E-41F9-8639-D2633E15B1D3}" type="slidenum"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19BDD1-0774-406A-A69E-FC1FF9FC66B8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E7A741-CC51-4876-863F-E979A63FBBE4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215AB6-D1C7-46E9-871B-23A41B5CF4BF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B79F3A-2DE0-4F90-976F-FBA11D3E8F71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3A09B6-B18E-47A9-8DB3-9DD8B0E56407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F88739-8567-4462-A9CB-ED747B50E06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20</a:t>
            </a:fld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Noto Sans CJK SC"/>
              </a:rPr>
              <a:t>Double-tap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Noto Sans CJK SC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Noto Sans CJK S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Noto Sans CJK S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Noto Sans CJK S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Noto Sans CJK S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Noto Sans CJK S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Noto Sans CJK S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966960" y="-1280160"/>
            <a:ext cx="3839760" cy="383976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1280160" y="4846320"/>
            <a:ext cx="3291120" cy="329112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233172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21C39A"/>
                </a:solidFill>
                <a:uFillTx/>
                <a:latin typeface="Calibri"/>
                <a:ea typeface="Calibri"/>
              </a:rPr>
              <a:t>SUPPLY CHAIN DATA CLEANING AND VISUALIZATION 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2743200"/>
            <a:ext cx="10057680" cy="155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4601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uFillTx/>
                <a:latin typeface="Cambria"/>
                <a:ea typeface="Cambria"/>
              </a:rPr>
              <a:t>Supply Chain Visibility and Optimization</a:t>
            </a:r>
            <a:endParaRPr lang="en-US" sz="40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2960" y="4617720"/>
            <a:ext cx="1828800" cy="360"/>
          </a:xfrm>
          <a:prstGeom prst="line">
            <a:avLst/>
          </a:prstGeom>
          <a:ln w="31750">
            <a:solidFill>
              <a:srgbClr val="21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5353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840" indent="-285840" defTabSz="914400">
              <a:lnSpc>
                <a:spcPct val="100000"/>
              </a:lnSpc>
              <a:buFont typeface="Arial"/>
              <a:buChar char="•"/>
            </a:pPr>
            <a:r>
              <a:rPr lang="en-US" sz="16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Ashvitha S    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 marL="285840" indent="-285840" defTabSz="914400">
              <a:lnSpc>
                <a:spcPct val="100000"/>
              </a:lnSpc>
              <a:buFont typeface="Arial"/>
              <a:buChar char="•"/>
            </a:pPr>
            <a:r>
              <a:rPr lang="en-US" sz="16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Chandrika Ruthala   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 marL="285840" indent="-285840" defTabSz="914400">
              <a:lnSpc>
                <a:spcPct val="100000"/>
              </a:lnSpc>
              <a:buFont typeface="Arial"/>
              <a:buChar char="•"/>
            </a:pPr>
            <a:r>
              <a:rPr lang="en-US" sz="16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Harish Vishal   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 marL="285840" indent="-285840" defTabSz="914400">
              <a:lnSpc>
                <a:spcPct val="100000"/>
              </a:lnSpc>
              <a:buFont typeface="Arial"/>
              <a:buChar char="•"/>
            </a:pPr>
            <a:r>
              <a:rPr lang="en-US" sz="16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Aarav Kumar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 marL="285840" indent="-285840" defTabSz="914400">
              <a:lnSpc>
                <a:spcPct val="100000"/>
              </a:lnSpc>
              <a:buFont typeface="Arial"/>
              <a:buChar char="•"/>
            </a:pPr>
            <a:r>
              <a:rPr lang="en-US" sz="16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Ashita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3"/>
          <p:cNvSpPr/>
          <p:nvPr/>
        </p:nvSpPr>
        <p:spPr>
          <a:xfrm>
            <a:off x="457200" y="255960"/>
            <a:ext cx="112737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Project Overview &amp; Objectives</a:t>
            </a:r>
            <a:endParaRPr lang="en-US" sz="2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57200" y="786240"/>
            <a:ext cx="1127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Why this project exists, what it covers, and what it aims to achieve with Power BI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" name="Text 5"/>
          <p:cNvSpPr/>
          <p:nvPr/>
        </p:nvSpPr>
        <p:spPr>
          <a:xfrm>
            <a:off x="457200" y="1207080"/>
            <a:ext cx="5477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7293"/>
                </a:solidFill>
                <a:uFillTx/>
                <a:latin typeface="Calibri"/>
                <a:ea typeface="Calibri"/>
              </a:rPr>
              <a:t>PROJECT OVERVIEW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" name="Text 6"/>
          <p:cNvSpPr/>
          <p:nvPr/>
        </p:nvSpPr>
        <p:spPr>
          <a:xfrm>
            <a:off x="6255720" y="1207080"/>
            <a:ext cx="5477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7293"/>
                </a:solidFill>
                <a:uFillTx/>
                <a:latin typeface="Calibri"/>
                <a:ea typeface="Calibri"/>
              </a:rPr>
              <a:t>KEY OBJECTIVES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" name="Circle 7"/>
          <p:cNvSpPr/>
          <p:nvPr/>
        </p:nvSpPr>
        <p:spPr>
          <a:xfrm>
            <a:off x="457200" y="165492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" name="Num 8"/>
          <p:cNvSpPr/>
          <p:nvPr/>
        </p:nvSpPr>
        <p:spPr>
          <a:xfrm>
            <a:off x="457200" y="16549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" name="Text 9"/>
          <p:cNvSpPr/>
          <p:nvPr/>
        </p:nvSpPr>
        <p:spPr>
          <a:xfrm>
            <a:off x="896040" y="162756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Goal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896040" y="1874520"/>
            <a:ext cx="503892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Clean and prepare raw supply chain data for accurate, reliable analysis.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" name="Circle 11"/>
          <p:cNvSpPr/>
          <p:nvPr/>
        </p:nvSpPr>
        <p:spPr>
          <a:xfrm>
            <a:off x="457200" y="24735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" name="Num 12"/>
          <p:cNvSpPr/>
          <p:nvPr/>
        </p:nvSpPr>
        <p:spPr>
          <a:xfrm>
            <a:off x="457200" y="24735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896040" y="244620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Why It Matters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896040" y="2692800"/>
            <a:ext cx="503892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Messy data leads to unreliable delivery, inventory, and cost insights.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" name="Circle 15"/>
          <p:cNvSpPr/>
          <p:nvPr/>
        </p:nvSpPr>
        <p:spPr>
          <a:xfrm>
            <a:off x="457200" y="329184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" name="Num 16"/>
          <p:cNvSpPr/>
          <p:nvPr/>
        </p:nvSpPr>
        <p:spPr>
          <a:xfrm>
            <a:off x="457200" y="32918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896040" y="326448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Scope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896040" y="3511440"/>
            <a:ext cx="503892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Orders, products, suppliers, warehouses, transport, and payments across 4 states.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" name="Circle 19"/>
          <p:cNvSpPr/>
          <p:nvPr/>
        </p:nvSpPr>
        <p:spPr>
          <a:xfrm>
            <a:off x="457200" y="411012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1" name="Num 20"/>
          <p:cNvSpPr/>
          <p:nvPr/>
        </p:nvSpPr>
        <p:spPr>
          <a:xfrm>
            <a:off x="457200" y="41101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896040" y="408276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Approach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3" name="Text 22"/>
          <p:cNvSpPr/>
          <p:nvPr/>
        </p:nvSpPr>
        <p:spPr>
          <a:xfrm>
            <a:off x="896040" y="4329720"/>
            <a:ext cx="503892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Python (pandas) in Google Colab, through a structured cleaning workflow.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4" name="Circle 23"/>
          <p:cNvSpPr/>
          <p:nvPr/>
        </p:nvSpPr>
        <p:spPr>
          <a:xfrm>
            <a:off x="457200" y="49287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5" name="Num 24"/>
          <p:cNvSpPr/>
          <p:nvPr/>
        </p:nvSpPr>
        <p:spPr>
          <a:xfrm>
            <a:off x="457200" y="4928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896040" y="490104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Team Effort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" name="Text 26"/>
          <p:cNvSpPr/>
          <p:nvPr/>
        </p:nvSpPr>
        <p:spPr>
          <a:xfrm>
            <a:off x="896040" y="5148000"/>
            <a:ext cx="503892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A 5-member team handled inspection, cleaning, validation, and documentation.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8" name="Circle 27"/>
          <p:cNvSpPr/>
          <p:nvPr/>
        </p:nvSpPr>
        <p:spPr>
          <a:xfrm>
            <a:off x="457200" y="574704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9" name="Num 28"/>
          <p:cNvSpPr/>
          <p:nvPr/>
        </p:nvSpPr>
        <p:spPr>
          <a:xfrm>
            <a:off x="457200" y="57470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896040" y="571968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Outcome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896040" y="5966640"/>
            <a:ext cx="503892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A clean, analysis-ready dataset with a fully documented workflow.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2" name="Circle 31"/>
          <p:cNvSpPr/>
          <p:nvPr/>
        </p:nvSpPr>
        <p:spPr>
          <a:xfrm>
            <a:off x="6255720" y="165492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3" name="Num 32"/>
          <p:cNvSpPr/>
          <p:nvPr/>
        </p:nvSpPr>
        <p:spPr>
          <a:xfrm>
            <a:off x="6255720" y="16549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6694920" y="162756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Analyze Revenue Performance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6694920" y="1874520"/>
            <a:ext cx="503892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Evaluate sales and identify high-performing categories and warehouses.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6" name="Circle 35"/>
          <p:cNvSpPr/>
          <p:nvPr/>
        </p:nvSpPr>
        <p:spPr>
          <a:xfrm>
            <a:off x="6255720" y="23565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7" name="Num 36"/>
          <p:cNvSpPr/>
          <p:nvPr/>
        </p:nvSpPr>
        <p:spPr>
          <a:xfrm>
            <a:off x="6255720" y="23565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8" name="Text 37"/>
          <p:cNvSpPr/>
          <p:nvPr/>
        </p:nvSpPr>
        <p:spPr>
          <a:xfrm>
            <a:off x="6694920" y="232920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Monitor Order &amp; Fulfillment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6694920" y="2576160"/>
            <a:ext cx="503892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Analyze total orders and fulfillment status efficiency.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0" name="Circle 39"/>
          <p:cNvSpPr/>
          <p:nvPr/>
        </p:nvSpPr>
        <p:spPr>
          <a:xfrm>
            <a:off x="6255720" y="305784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1" name="Num 40"/>
          <p:cNvSpPr/>
          <p:nvPr/>
        </p:nvSpPr>
        <p:spPr>
          <a:xfrm>
            <a:off x="6255720" y="30578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2" name="Text 41"/>
          <p:cNvSpPr/>
          <p:nvPr/>
        </p:nvSpPr>
        <p:spPr>
          <a:xfrm>
            <a:off x="6694920" y="303048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Evaluate Delivery &amp; Logistics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3" name="Text 42"/>
          <p:cNvSpPr/>
          <p:nvPr/>
        </p:nvSpPr>
        <p:spPr>
          <a:xfrm>
            <a:off x="6694920" y="3277440"/>
            <a:ext cx="503892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Analyze transport modes, delivery status, and average delivery time.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4" name="Circle 43"/>
          <p:cNvSpPr/>
          <p:nvPr/>
        </p:nvSpPr>
        <p:spPr>
          <a:xfrm>
            <a:off x="6255720" y="375948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5" name="Num 44"/>
          <p:cNvSpPr/>
          <p:nvPr/>
        </p:nvSpPr>
        <p:spPr>
          <a:xfrm>
            <a:off x="6255720" y="37594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6" name="Text 45"/>
          <p:cNvSpPr/>
          <p:nvPr/>
        </p:nvSpPr>
        <p:spPr>
          <a:xfrm>
            <a:off x="6694920" y="373212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Identify Inventory Risks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7" name="Text 46"/>
          <p:cNvSpPr/>
          <p:nvPr/>
        </p:nvSpPr>
        <p:spPr>
          <a:xfrm>
            <a:off x="6694920" y="3979080"/>
            <a:ext cx="503892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Classify stock into Healthy, Medium, and Low Stock categories.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8" name="Circle 47"/>
          <p:cNvSpPr/>
          <p:nvPr/>
        </p:nvSpPr>
        <p:spPr>
          <a:xfrm>
            <a:off x="6255720" y="446112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9" name="Num 48"/>
          <p:cNvSpPr/>
          <p:nvPr/>
        </p:nvSpPr>
        <p:spPr>
          <a:xfrm>
            <a:off x="6255720" y="44611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0" name="Text 49"/>
          <p:cNvSpPr/>
          <p:nvPr/>
        </p:nvSpPr>
        <p:spPr>
          <a:xfrm>
            <a:off x="6694920" y="443340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Evaluate Supplier Performance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1" name="Text 50"/>
          <p:cNvSpPr/>
          <p:nvPr/>
        </p:nvSpPr>
        <p:spPr>
          <a:xfrm>
            <a:off x="6694920" y="4680360"/>
            <a:ext cx="503892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Compare suppliers by revenue contribution and fulfillment performance.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2" name="Circle 51"/>
          <p:cNvSpPr/>
          <p:nvPr/>
        </p:nvSpPr>
        <p:spPr>
          <a:xfrm>
            <a:off x="6255720" y="516240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63" name="Num 52"/>
          <p:cNvSpPr/>
          <p:nvPr/>
        </p:nvSpPr>
        <p:spPr>
          <a:xfrm>
            <a:off x="6255720" y="51624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4" name="Text 53"/>
          <p:cNvSpPr/>
          <p:nvPr/>
        </p:nvSpPr>
        <p:spPr>
          <a:xfrm>
            <a:off x="6694920" y="513504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Analyze Product Returns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5" name="Text 54"/>
          <p:cNvSpPr/>
          <p:nvPr/>
        </p:nvSpPr>
        <p:spPr>
          <a:xfrm>
            <a:off x="6694920" y="5382000"/>
            <a:ext cx="503892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Identify categories with higher return rates and improvement areas.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6" name="Circle 55"/>
          <p:cNvSpPr/>
          <p:nvPr/>
        </p:nvSpPr>
        <p:spPr>
          <a:xfrm>
            <a:off x="6255720" y="586404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67" name="Num 56"/>
          <p:cNvSpPr/>
          <p:nvPr/>
        </p:nvSpPr>
        <p:spPr>
          <a:xfrm>
            <a:off x="6255720" y="58640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8" name="Text 57"/>
          <p:cNvSpPr/>
          <p:nvPr/>
        </p:nvSpPr>
        <p:spPr>
          <a:xfrm>
            <a:off x="6694920" y="5836320"/>
            <a:ext cx="5038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Enable Data-Driven Decisions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9" name="Text 58"/>
          <p:cNvSpPr/>
          <p:nvPr/>
        </p:nvSpPr>
        <p:spPr>
          <a:xfrm>
            <a:off x="6694920" y="6083280"/>
            <a:ext cx="503892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Interactive Power BI dashboard with KPIs, filters, and visuals.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Problem Statement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48640" y="1234440"/>
            <a:ext cx="11063520" cy="2879640"/>
          </a:xfrm>
          <a:prstGeom prst="roundRect">
            <a:avLst>
              <a:gd name="adj" fmla="val 3175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234440"/>
            <a:ext cx="81720" cy="2879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0680" tIns="45000" rIns="4068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3" name="Text 3"/>
          <p:cNvSpPr/>
          <p:nvPr/>
        </p:nvSpPr>
        <p:spPr>
          <a:xfrm>
            <a:off x="960120" y="1481400"/>
            <a:ext cx="10332000" cy="242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Supply chain organizations rely on accurate data to manage orders, inventory, suppliers, transportation, and deliveries.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However, the raw dataset contains missing values, duplicate records, inconsistent text formats, and incorrect data, which can lead to inaccurate analysis and poor decision-making.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Therefore, the dataset must be cleaned and preprocessed to improve its quality, consistency, and reliability before performing data analysis and visualization.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44348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5B6B77"/>
                </a:solidFill>
                <a:uFillTx/>
                <a:latin typeface="Calibri"/>
                <a:ea typeface="Calibri"/>
              </a:rPr>
              <a:t>KEY ISSUES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54864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6" name="Text 6"/>
          <p:cNvSpPr/>
          <p:nvPr/>
        </p:nvSpPr>
        <p:spPr>
          <a:xfrm>
            <a:off x="54864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Missing Values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404800" y="4800600"/>
            <a:ext cx="1942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404800" y="4800600"/>
            <a:ext cx="1942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Duplicate Records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4549320" y="4800600"/>
            <a:ext cx="2230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9320" y="4800600"/>
            <a:ext cx="2230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Inconsistent Formats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698148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698148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Incorrect Data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48640" y="41148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Dataset Description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9327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7"/>
                </a:solidFill>
                <a:uFillTx/>
                <a:latin typeface="Courier New"/>
                <a:ea typeface="Courier New"/>
              </a:rPr>
              <a:t>supply_chain_dataset_rawdata.xlsx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548640" y="1508760"/>
            <a:ext cx="2513880" cy="146232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6" name="Text 3"/>
          <p:cNvSpPr/>
          <p:nvPr/>
        </p:nvSpPr>
        <p:spPr>
          <a:xfrm>
            <a:off x="548640" y="16732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Cambria"/>
                <a:ea typeface="Cambria"/>
              </a:rPr>
              <a:t>4,129</a:t>
            </a:r>
            <a:endParaRPr lang="en-US" sz="3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48640" y="23774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spc="99">
                <a:solidFill>
                  <a:srgbClr val="BFE1F0"/>
                </a:solidFill>
                <a:uFillTx/>
                <a:latin typeface="Calibri"/>
                <a:ea typeface="Calibri"/>
              </a:rPr>
              <a:t>RECORDS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3200400" y="1508760"/>
            <a:ext cx="2513880" cy="146232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9" name="Text 6"/>
          <p:cNvSpPr/>
          <p:nvPr/>
        </p:nvSpPr>
        <p:spPr>
          <a:xfrm>
            <a:off x="3200400" y="16732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Cambria"/>
                <a:ea typeface="Cambria"/>
              </a:rPr>
              <a:t>20</a:t>
            </a:r>
            <a:endParaRPr lang="en-US" sz="3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0" name="Text 7"/>
          <p:cNvSpPr/>
          <p:nvPr/>
        </p:nvSpPr>
        <p:spPr>
          <a:xfrm>
            <a:off x="3200400" y="23774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spc="99">
                <a:solidFill>
                  <a:srgbClr val="BFE1F0"/>
                </a:solidFill>
                <a:uFillTx/>
                <a:latin typeface="Calibri"/>
                <a:ea typeface="Calibri"/>
              </a:rPr>
              <a:t>COLUMNS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548640" y="3108960"/>
            <a:ext cx="2513880" cy="146232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48640" y="32734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Cambria"/>
                <a:ea typeface="Cambria"/>
              </a:rPr>
              <a:t>3</a:t>
            </a:r>
            <a:endParaRPr lang="en-US" sz="3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548640" y="39776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spc="99">
                <a:solidFill>
                  <a:srgbClr val="BFE1F0"/>
                </a:solidFill>
                <a:uFillTx/>
                <a:latin typeface="Calibri"/>
                <a:ea typeface="Calibri"/>
              </a:rPr>
              <a:t>PRODUCT CATEGORIES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3200400" y="3108960"/>
            <a:ext cx="2513880" cy="146232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3200400" y="32734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Cambria"/>
                <a:ea typeface="Cambria"/>
              </a:rPr>
              <a:t>4</a:t>
            </a:r>
            <a:endParaRPr lang="en-US" sz="3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3200400" y="39776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spc="99">
                <a:solidFill>
                  <a:srgbClr val="BFE1F0"/>
                </a:solidFill>
                <a:uFillTx/>
                <a:latin typeface="Calibri"/>
                <a:ea typeface="Calibri"/>
              </a:rPr>
              <a:t>WAREHOUSES / STATES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6263640" y="1463040"/>
            <a:ext cx="530280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Key Columns</a:t>
            </a: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6263640" y="187452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uFillTx/>
                <a:latin typeface="Calibri"/>
                <a:ea typeface="Calibri"/>
              </a:rPr>
              <a:t>Order &amp; Product</a:t>
            </a:r>
            <a:endParaRPr lang="en-US" sz="16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6263640" y="2148840"/>
            <a:ext cx="530280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Order_ID, Product_ID, Product_Name, Category, Quantity, Unit_Price, Total_Amount</a:t>
            </a:r>
            <a:endParaRPr lang="en-US" sz="13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6263640" y="301752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uFillTx/>
                <a:latin typeface="Calibri"/>
                <a:ea typeface="Calibri"/>
              </a:rPr>
              <a:t>Logistics</a:t>
            </a:r>
            <a:endParaRPr lang="en-US" sz="16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6263640" y="3291840"/>
            <a:ext cx="530280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Supplier, Warehouse, Transport_Mode, Order_Date, Delivery_Date, Delivery_Status</a:t>
            </a:r>
            <a:endParaRPr lang="en-US" sz="13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6263640" y="416052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uFillTx/>
                <a:latin typeface="Calibri"/>
                <a:ea typeface="Calibri"/>
              </a:rPr>
              <a:t>Customer &amp; Ops</a:t>
            </a:r>
            <a:endParaRPr lang="en-US" sz="16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6263640" y="4434840"/>
            <a:ext cx="530280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Customer_City, State, Payment_Status, Inventory_Level, Return_Flag, Priority, Employee_ID</a:t>
            </a:r>
            <a:endParaRPr lang="en-US" sz="13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4" name="TextBox 22"/>
          <p:cNvSpPr/>
          <p:nvPr/>
        </p:nvSpPr>
        <p:spPr>
          <a:xfrm>
            <a:off x="548640" y="5249880"/>
            <a:ext cx="53028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5A82"/>
                </a:solidFill>
                <a:uFillTx/>
                <a:latin typeface="Calibri"/>
              </a:rPr>
              <a:t>Columns by Category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5" name="TextBox 23"/>
          <p:cNvSpPr/>
          <p:nvPr/>
        </p:nvSpPr>
        <p:spPr>
          <a:xfrm>
            <a:off x="548640" y="5569920"/>
            <a:ext cx="53028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5B6B77"/>
                </a:solidFill>
                <a:uFillTx/>
                <a:latin typeface="Calibri"/>
              </a:rPr>
              <a:t>20 columns across 3 functional groups</a:t>
            </a:r>
            <a:endParaRPr lang="en-US" sz="9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graphicFrame>
        <p:nvGraphicFramePr>
          <p:cNvPr id="106" name="Chart 24"/>
          <p:cNvGraphicFramePr/>
          <p:nvPr/>
        </p:nvGraphicFramePr>
        <p:xfrm>
          <a:off x="548640" y="5820120"/>
          <a:ext cx="11292120" cy="949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Supply Chain Data-to-Insight Workflow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48640" y="9327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From raw data to visibility &amp; optimization insights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594360" y="2377440"/>
            <a:ext cx="1399320" cy="137088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9050">
            <a:solidFill>
              <a:srgbClr val="5B6B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667440" y="2514600"/>
            <a:ext cx="12528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Raw Dataset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685800" y="3035880"/>
            <a:ext cx="121644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4,129 orders, 20 columns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576000" y="2084760"/>
            <a:ext cx="310320" cy="310320"/>
          </a:xfrm>
          <a:prstGeom prst="ellipse">
            <a:avLst/>
          </a:prstGeom>
          <a:solidFill>
            <a:srgbClr val="5B6B7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576000" y="2084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2023560" y="2980800"/>
            <a:ext cx="1821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7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080" rIns="90000" bIns="37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2235600" y="2377440"/>
            <a:ext cx="1399320" cy="137088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905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2308680" y="2514600"/>
            <a:ext cx="12528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Detect Issues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2327040" y="3035880"/>
            <a:ext cx="121644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Missing values, duplicates, inconsistent text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2217240" y="20847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2217240" y="2084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3664800" y="2980800"/>
            <a:ext cx="1821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7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080" rIns="90000" bIns="37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3876840" y="2377440"/>
            <a:ext cx="1399320" cy="137088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905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3949920" y="2514600"/>
            <a:ext cx="12528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240" tIns="45000" rIns="84240" bIns="45000" anchor="t">
            <a:no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Handle Missing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Values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3968280" y="3035880"/>
            <a:ext cx="121644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Median fill (numeric), "Unknown" (categorical)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4" name="Shape 17"/>
          <p:cNvSpPr/>
          <p:nvPr/>
        </p:nvSpPr>
        <p:spPr>
          <a:xfrm>
            <a:off x="3858480" y="20847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3858480" y="2084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6" name="Shape 19"/>
          <p:cNvSpPr/>
          <p:nvPr/>
        </p:nvSpPr>
        <p:spPr>
          <a:xfrm>
            <a:off x="5306040" y="2980800"/>
            <a:ext cx="1821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7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080" rIns="90000" bIns="37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5518080" y="2377440"/>
            <a:ext cx="1399320" cy="137088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905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5591160" y="2514600"/>
            <a:ext cx="12528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Remove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Duplicates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5609520" y="3035880"/>
            <a:ext cx="121644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7 duplicate rows dropped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5499720" y="20847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5499720" y="2084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2" name="Shape 25"/>
          <p:cNvSpPr/>
          <p:nvPr/>
        </p:nvSpPr>
        <p:spPr>
          <a:xfrm>
            <a:off x="6946920" y="2980800"/>
            <a:ext cx="1821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7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080" rIns="90000" bIns="37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3" name="Shape 26"/>
          <p:cNvSpPr/>
          <p:nvPr/>
        </p:nvSpPr>
        <p:spPr>
          <a:xfrm>
            <a:off x="7158960" y="2377440"/>
            <a:ext cx="1399320" cy="137088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905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7232400" y="2514600"/>
            <a:ext cx="12528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Standardize &amp;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Recalculate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5" name="Text 28"/>
          <p:cNvSpPr/>
          <p:nvPr/>
        </p:nvSpPr>
        <p:spPr>
          <a:xfrm>
            <a:off x="7250400" y="3035880"/>
            <a:ext cx="121644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Text casing fixed, Total_Amount recomputed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6" name="Shape 29"/>
          <p:cNvSpPr/>
          <p:nvPr/>
        </p:nvSpPr>
        <p:spPr>
          <a:xfrm>
            <a:off x="7140960" y="20847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7140960" y="2084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8" name="Shape 31"/>
          <p:cNvSpPr/>
          <p:nvPr/>
        </p:nvSpPr>
        <p:spPr>
          <a:xfrm>
            <a:off x="8588160" y="2980800"/>
            <a:ext cx="1821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7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080" rIns="90000" bIns="37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9" name="Shape 32"/>
          <p:cNvSpPr/>
          <p:nvPr/>
        </p:nvSpPr>
        <p:spPr>
          <a:xfrm>
            <a:off x="8800200" y="2377440"/>
            <a:ext cx="1399320" cy="137088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0" name="Text 33"/>
          <p:cNvSpPr/>
          <p:nvPr/>
        </p:nvSpPr>
        <p:spPr>
          <a:xfrm>
            <a:off x="8873280" y="2514600"/>
            <a:ext cx="12528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Clean Dataset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1" name="Text 34"/>
          <p:cNvSpPr/>
          <p:nvPr/>
        </p:nvSpPr>
        <p:spPr>
          <a:xfrm>
            <a:off x="8891640" y="3035880"/>
            <a:ext cx="121644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4,122 rows, 0 missing, powering the Power BI dashboards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2" name="Shape 35"/>
          <p:cNvSpPr/>
          <p:nvPr/>
        </p:nvSpPr>
        <p:spPr>
          <a:xfrm>
            <a:off x="8781840" y="2084760"/>
            <a:ext cx="310320" cy="310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3" name="Text 36"/>
          <p:cNvSpPr/>
          <p:nvPr/>
        </p:nvSpPr>
        <p:spPr>
          <a:xfrm>
            <a:off x="8781840" y="2084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6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4" name="Text 37"/>
          <p:cNvSpPr/>
          <p:nvPr/>
        </p:nvSpPr>
        <p:spPr>
          <a:xfrm>
            <a:off x="548640" y="61264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Tools: Python (pandas)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5" name="Shape Step7 Box"/>
          <p:cNvSpPr/>
          <p:nvPr/>
        </p:nvSpPr>
        <p:spPr>
          <a:xfrm>
            <a:off x="10441440" y="2377440"/>
            <a:ext cx="1399320" cy="1370880"/>
          </a:xfrm>
          <a:prstGeom prst="roundRect">
            <a:avLst>
              <a:gd name="adj" fmla="val 6000"/>
            </a:avLst>
          </a:prstGeom>
          <a:solidFill>
            <a:srgbClr val="21C39A"/>
          </a:solidFill>
          <a:ln w="19050">
            <a:solidFill>
              <a:srgbClr val="21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6" name="Text Step7 Title"/>
          <p:cNvSpPr/>
          <p:nvPr/>
        </p:nvSpPr>
        <p:spPr>
          <a:xfrm>
            <a:off x="10514520" y="2514600"/>
            <a:ext cx="12528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Visualize &amp;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Optimize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7" name="Text Step7 Desc"/>
          <p:cNvSpPr/>
          <p:nvPr/>
        </p:nvSpPr>
        <p:spPr>
          <a:xfrm>
            <a:off x="10532880" y="3035880"/>
            <a:ext cx="121644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Power BI dashboards drive fulfillment &amp; inventory decisions</a:t>
            </a:r>
            <a:endParaRPr lang="en-US" sz="9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8" name="Shape Step7 Circle"/>
          <p:cNvSpPr/>
          <p:nvPr/>
        </p:nvSpPr>
        <p:spPr>
          <a:xfrm>
            <a:off x="10423080" y="2084760"/>
            <a:ext cx="310320" cy="310320"/>
          </a:xfrm>
          <a:prstGeom prst="ellipse">
            <a:avLst/>
          </a:prstGeom>
          <a:solidFill>
            <a:srgbClr val="21C39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9" name="Text Step7 Num"/>
          <p:cNvSpPr/>
          <p:nvPr/>
        </p:nvSpPr>
        <p:spPr>
          <a:xfrm>
            <a:off x="10423080" y="2084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7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0" name="Shape Arrow6"/>
          <p:cNvSpPr/>
          <p:nvPr/>
        </p:nvSpPr>
        <p:spPr>
          <a:xfrm>
            <a:off x="10229400" y="2980800"/>
            <a:ext cx="1821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7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080" rIns="90000" bIns="37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548640" y="365760"/>
            <a:ext cx="91432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Handling Missing Values</a:t>
            </a:r>
            <a:endParaRPr lang="en-US" sz="3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548640" y="85968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2,261 missing values found across 6 of 20 columns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548640" y="1207080"/>
            <a:ext cx="9509040" cy="4197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685800" y="1207080"/>
            <a:ext cx="21938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Column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3063240" y="1207080"/>
            <a:ext cx="1096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Missing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4343400" y="1207080"/>
            <a:ext cx="8222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%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5349240" y="12070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Method Used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685800" y="1627560"/>
            <a:ext cx="21938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Supplier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3063240" y="1627560"/>
            <a:ext cx="1096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862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4343400" y="1627560"/>
            <a:ext cx="8222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20.9%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5349240" y="162756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ourier New"/>
                <a:ea typeface="Courier New"/>
              </a:rPr>
              <a:t>fillna("Unknown")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548640" y="2048400"/>
            <a:ext cx="9509040" cy="419760"/>
          </a:xfrm>
          <a:prstGeom prst="rect">
            <a:avLst/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685800" y="2048400"/>
            <a:ext cx="21938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Warehouse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3063240" y="2048400"/>
            <a:ext cx="1096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827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4343400" y="2048400"/>
            <a:ext cx="8222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20.0%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5349240" y="204840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ourier New"/>
                <a:ea typeface="Courier New"/>
              </a:rPr>
              <a:t>fillna(mode()[0])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85800" y="2468880"/>
            <a:ext cx="21938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Total_Amount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3063240" y="2468880"/>
            <a:ext cx="1096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218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4343400" y="2468880"/>
            <a:ext cx="8222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5.3%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5349240" y="24688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ourier New"/>
                <a:ea typeface="Courier New"/>
              </a:rPr>
              <a:t>fillna(Quantity × Unit_Price)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548640" y="2889360"/>
            <a:ext cx="9509040" cy="419760"/>
          </a:xfrm>
          <a:prstGeom prst="rect">
            <a:avLst/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685800" y="2889360"/>
            <a:ext cx="21938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Delivery_Date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3063240" y="2889360"/>
            <a:ext cx="1096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136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4343400" y="2889360"/>
            <a:ext cx="8222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3.3%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5349240" y="288936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ourier New"/>
                <a:ea typeface="Courier New"/>
              </a:rPr>
              <a:t>fillna(Order_Date)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6" name="Text 25"/>
          <p:cNvSpPr/>
          <p:nvPr/>
        </p:nvSpPr>
        <p:spPr>
          <a:xfrm>
            <a:off x="685800" y="3310200"/>
            <a:ext cx="21938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Quantity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3063240" y="3310200"/>
            <a:ext cx="1096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118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8" name="Text 27"/>
          <p:cNvSpPr/>
          <p:nvPr/>
        </p:nvSpPr>
        <p:spPr>
          <a:xfrm>
            <a:off x="4343400" y="3310200"/>
            <a:ext cx="8222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2.9%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5349240" y="331020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ourier New"/>
                <a:ea typeface="Courier New"/>
              </a:rPr>
              <a:t>fillna(median())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548640" y="3730680"/>
            <a:ext cx="9509040" cy="419760"/>
          </a:xfrm>
          <a:prstGeom prst="rect">
            <a:avLst/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1" name="Text 30"/>
          <p:cNvSpPr/>
          <p:nvPr/>
        </p:nvSpPr>
        <p:spPr>
          <a:xfrm>
            <a:off x="685800" y="3730680"/>
            <a:ext cx="21938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Unit_Price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2" name="Text 31"/>
          <p:cNvSpPr/>
          <p:nvPr/>
        </p:nvSpPr>
        <p:spPr>
          <a:xfrm>
            <a:off x="3063240" y="3730680"/>
            <a:ext cx="1096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100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3" name="Text 32"/>
          <p:cNvSpPr/>
          <p:nvPr/>
        </p:nvSpPr>
        <p:spPr>
          <a:xfrm>
            <a:off x="4343400" y="3730680"/>
            <a:ext cx="8222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2.4%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4" name="Text 33"/>
          <p:cNvSpPr/>
          <p:nvPr/>
        </p:nvSpPr>
        <p:spPr>
          <a:xfrm>
            <a:off x="5349240" y="37306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430"/>
                </a:solidFill>
                <a:uFillTx/>
                <a:latin typeface="Courier New"/>
                <a:ea typeface="Courier New"/>
              </a:rPr>
              <a:t>fillna(mean())</a:t>
            </a:r>
            <a:endParaRPr lang="en-US" sz="11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5" name="Text 34"/>
          <p:cNvSpPr/>
          <p:nvPr/>
        </p:nvSpPr>
        <p:spPr>
          <a:xfrm>
            <a:off x="548640" y="4407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Code Used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6" name="Shape 35"/>
          <p:cNvSpPr/>
          <p:nvPr/>
        </p:nvSpPr>
        <p:spPr>
          <a:xfrm>
            <a:off x="548640" y="4727520"/>
            <a:ext cx="11063520" cy="1873800"/>
          </a:xfrm>
          <a:prstGeom prst="roundRect">
            <a:avLst>
              <a:gd name="adj" fmla="val 3902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87" name="Text 36"/>
          <p:cNvSpPr/>
          <p:nvPr/>
        </p:nvSpPr>
        <p:spPr>
          <a:xfrm>
            <a:off x="777240" y="4864680"/>
            <a:ext cx="10606320" cy="15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df.drop_duplicates(inplace=True)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df["Quantity"] = df["Quantity"].fillna(df["Quantity"].median())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df["Unit_Price"] = df["Unit_Price"].fillna(df["Unit_Price"].mean())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df["Supplier"] = df["Supplier"].fillna("Unknown")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df["Warehouse"] = df["Warehouse"].fillna(df["Warehouse"].mode()[0])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df["Delivery_Date"] = df["Delivery_Date"].fillna(df["Order_Date"])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df["Total_Amount"] = df["Total_Amount"].fillna(df["Quantity"] * df["Unit_Price"])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201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DAX Calculations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9" name="Text 202"/>
          <p:cNvSpPr/>
          <p:nvPr/>
        </p:nvSpPr>
        <p:spPr>
          <a:xfrm>
            <a:off x="548640" y="9327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Key DAX Measures &amp; Calculations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0" name="Text 203"/>
          <p:cNvSpPr/>
          <p:nvPr/>
        </p:nvSpPr>
        <p:spPr>
          <a:xfrm>
            <a:off x="548640" y="1371600"/>
            <a:ext cx="1109412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960" tIns="45000" rIns="1296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DAX measures were created to calculate business KPIs and support interactive analysis of sales, orders, fulfillment, delivery, inventory, suppliers, and returns.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1" name="Text 204"/>
          <p:cNvSpPr/>
          <p:nvPr/>
        </p:nvSpPr>
        <p:spPr>
          <a:xfrm>
            <a:off x="548640" y="2049840"/>
            <a:ext cx="5409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1. Sales &amp; Orders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2" name="Shape 206"/>
          <p:cNvSpPr/>
          <p:nvPr/>
        </p:nvSpPr>
        <p:spPr>
          <a:xfrm>
            <a:off x="548640" y="2469960"/>
            <a:ext cx="5409360" cy="1347120"/>
          </a:xfrm>
          <a:prstGeom prst="roundRect">
            <a:avLst>
              <a:gd name="adj" fmla="val 900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3" name="Code 205"/>
          <p:cNvSpPr/>
          <p:nvPr/>
        </p:nvSpPr>
        <p:spPr>
          <a:xfrm>
            <a:off x="777240" y="2607120"/>
            <a:ext cx="4952160" cy="10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Total Sales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SUM(SupplyChain[Sales])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Total Orders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DISTINCTCOUNT(SupplyChain[Order_ID])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4" name="Text 208"/>
          <p:cNvSpPr/>
          <p:nvPr/>
        </p:nvSpPr>
        <p:spPr>
          <a:xfrm>
            <a:off x="548640" y="4017600"/>
            <a:ext cx="5409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2. Fulfillment &amp; Delivery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5" name="Shape 210"/>
          <p:cNvSpPr/>
          <p:nvPr/>
        </p:nvSpPr>
        <p:spPr>
          <a:xfrm>
            <a:off x="548640" y="4437720"/>
            <a:ext cx="5409360" cy="2152080"/>
          </a:xfrm>
          <a:prstGeom prst="roundRect">
            <a:avLst>
              <a:gd name="adj" fmla="val 900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6" name="Code 209"/>
          <p:cNvSpPr/>
          <p:nvPr/>
        </p:nvSpPr>
        <p:spPr>
          <a:xfrm>
            <a:off x="777240" y="4574880"/>
            <a:ext cx="4952160" cy="187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Fulfillment Rate = DIVIDE(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CALCULATE([Total Orders],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Delivery_Status="Delivered"),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[Total Orders], 0)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Delayed Orders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CALCULATE([Total Orders],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Delivery_Status="Delayed")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7" name="Text 212"/>
          <p:cNvSpPr/>
          <p:nvPr/>
        </p:nvSpPr>
        <p:spPr>
          <a:xfrm>
            <a:off x="6233040" y="2049840"/>
            <a:ext cx="5409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3. Average Delivery Time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8" name="Shape 214"/>
          <p:cNvSpPr/>
          <p:nvPr/>
        </p:nvSpPr>
        <p:spPr>
          <a:xfrm>
            <a:off x="6233040" y="2469960"/>
            <a:ext cx="5409360" cy="1615320"/>
          </a:xfrm>
          <a:prstGeom prst="roundRect">
            <a:avLst>
              <a:gd name="adj" fmla="val 900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9" name="Code 213"/>
          <p:cNvSpPr/>
          <p:nvPr/>
        </p:nvSpPr>
        <p:spPr>
          <a:xfrm>
            <a:off x="6461640" y="2607120"/>
            <a:ext cx="4952160" cy="134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Delivery Days = DATEDIFF(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SupplyChain[Order_Date],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SupplyChain[Delivery_Date], DAY)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Average Delivery Days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AVERAGE(SupplyChain[Delivery Days])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0" name="Shape 216"/>
          <p:cNvSpPr/>
          <p:nvPr/>
        </p:nvSpPr>
        <p:spPr>
          <a:xfrm>
            <a:off x="6233040" y="4406040"/>
            <a:ext cx="5409360" cy="1699200"/>
          </a:xfrm>
          <a:prstGeom prst="roundRect">
            <a:avLst>
              <a:gd name="adj" fmla="val 18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1" name="Text 217"/>
          <p:cNvSpPr/>
          <p:nvPr/>
        </p:nvSpPr>
        <p:spPr>
          <a:xfrm>
            <a:off x="6461640" y="4588920"/>
            <a:ext cx="4952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Used In Dashboard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2" name="Text 218"/>
          <p:cNvSpPr/>
          <p:nvPr/>
        </p:nvSpPr>
        <p:spPr>
          <a:xfrm>
            <a:off x="6461640" y="4954680"/>
            <a:ext cx="4952160" cy="101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These measures power the Fulfillment Rate, Delayed Orders, and Average Delivery Days KPI cards shown across the Power BI dashboard views.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3" name="Text 219"/>
          <p:cNvSpPr/>
          <p:nvPr/>
        </p:nvSpPr>
        <p:spPr>
          <a:xfrm>
            <a:off x="548640" y="6553080"/>
            <a:ext cx="1109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Tools: Power BI Desktop · DAX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201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DAX Calculations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5" name="Text 202"/>
          <p:cNvSpPr/>
          <p:nvPr/>
        </p:nvSpPr>
        <p:spPr>
          <a:xfrm>
            <a:off x="548640" y="9327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Key DAX Measures &amp; Calculations (Continued)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6" name="Text 203"/>
          <p:cNvSpPr/>
          <p:nvPr/>
        </p:nvSpPr>
        <p:spPr>
          <a:xfrm>
            <a:off x="548640" y="1371600"/>
            <a:ext cx="1109412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Additional DAX measures were created to power the in-transit, returns, inventory-risk, and supplier-analysis visuals on the Power BI dashboards.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7" name="Text 204"/>
          <p:cNvSpPr/>
          <p:nvPr/>
        </p:nvSpPr>
        <p:spPr>
          <a:xfrm>
            <a:off x="548640" y="2049840"/>
            <a:ext cx="5409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4. Returns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8" name="Shape 206"/>
          <p:cNvSpPr/>
          <p:nvPr/>
        </p:nvSpPr>
        <p:spPr>
          <a:xfrm>
            <a:off x="548640" y="2469960"/>
            <a:ext cx="5409360" cy="1347120"/>
          </a:xfrm>
          <a:prstGeom prst="roundRect">
            <a:avLst>
              <a:gd name="adj" fmla="val 900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9" name="Code 205"/>
          <p:cNvSpPr/>
          <p:nvPr/>
        </p:nvSpPr>
        <p:spPr>
          <a:xfrm>
            <a:off x="777240" y="2607120"/>
            <a:ext cx="4952160" cy="10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Returned Orders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CALCULATE([Total Orders],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Return_Flag="Yes")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Return Rate = DIVIDE([Returned Orders],[Total Orders],0)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0" name="Text 208"/>
          <p:cNvSpPr/>
          <p:nvPr/>
        </p:nvSpPr>
        <p:spPr>
          <a:xfrm>
            <a:off x="548640" y="4017600"/>
            <a:ext cx="5409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5. Inventory Risk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1" name="Shape 210"/>
          <p:cNvSpPr/>
          <p:nvPr/>
        </p:nvSpPr>
        <p:spPr>
          <a:xfrm>
            <a:off x="548640" y="4437720"/>
            <a:ext cx="5409360" cy="2152080"/>
          </a:xfrm>
          <a:prstGeom prst="roundRect">
            <a:avLst>
              <a:gd name="adj" fmla="val 900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2" name="Code 209"/>
          <p:cNvSpPr/>
          <p:nvPr/>
        </p:nvSpPr>
        <p:spPr>
          <a:xfrm>
            <a:off x="777240" y="4574880"/>
            <a:ext cx="4952160" cy="187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Inventory Risk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SWITCH(TRUE(),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Inventory_Rate &lt;= 100,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  "Low Stock",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Inventory_Rate &lt;= 300,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  "Medium Stock",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"Healthy Stock")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3" name="Text 212"/>
          <p:cNvSpPr/>
          <p:nvPr/>
        </p:nvSpPr>
        <p:spPr>
          <a:xfrm>
            <a:off x="6233040" y="2049840"/>
            <a:ext cx="5409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6. Supplier Analysis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6233040" y="2469960"/>
            <a:ext cx="5409360" cy="1615320"/>
          </a:xfrm>
          <a:prstGeom prst="roundRect">
            <a:avLst>
              <a:gd name="adj" fmla="val 900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5" name="Code 213"/>
          <p:cNvSpPr/>
          <p:nvPr/>
        </p:nvSpPr>
        <p:spPr>
          <a:xfrm>
            <a:off x="6461640" y="2607120"/>
            <a:ext cx="4952160" cy="134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Total Suppliers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DISTINCTCOUNT(SupplyChain[Supplier])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Supplier Fulfillment Rate =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DIVIDE(CALCULATE([Total Orders],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DCFE"/>
                </a:solidFill>
                <a:uFillTx/>
                <a:latin typeface="Courier New"/>
                <a:ea typeface="Courier New"/>
              </a:rPr>
              <a:t>   Delivery_Status="Delivered"),[Total],0)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6233040" y="4406040"/>
            <a:ext cx="5409360" cy="1699200"/>
          </a:xfrm>
          <a:prstGeom prst="roundRect">
            <a:avLst>
              <a:gd name="adj" fmla="val 18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7" name="Text 217"/>
          <p:cNvSpPr/>
          <p:nvPr/>
        </p:nvSpPr>
        <p:spPr>
          <a:xfrm>
            <a:off x="6461640" y="4588920"/>
            <a:ext cx="4952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Used In Dashboard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8" name="Text 218"/>
          <p:cNvSpPr/>
          <p:nvPr/>
        </p:nvSpPr>
        <p:spPr>
          <a:xfrm>
            <a:off x="6461640" y="4954680"/>
            <a:ext cx="4952160" cy="101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These measures power the Return Rate, Inventory Risk Distribution, In Transit Orders, and Supplier Fulfillment Performance visuals across the Power BI dashboard.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9" name="Text 219"/>
          <p:cNvSpPr/>
          <p:nvPr/>
        </p:nvSpPr>
        <p:spPr>
          <a:xfrm>
            <a:off x="548640" y="6553080"/>
            <a:ext cx="1109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Tools: Power BI Desktop · DAX</a:t>
            </a:r>
            <a:endParaRPr lang="en-US" sz="11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201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Dashboard Visualization &amp; Analysis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1" name="Text 202"/>
          <p:cNvSpPr/>
          <p:nvPr/>
        </p:nvSpPr>
        <p:spPr>
          <a:xfrm>
            <a:off x="548640" y="9327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Power BI Dashboard Overview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2" name="Text 203"/>
          <p:cNvSpPr/>
          <p:nvPr/>
        </p:nvSpPr>
        <p:spPr>
          <a:xfrm>
            <a:off x="548640" y="1371600"/>
            <a:ext cx="1109412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 dashboard was designed to provide an interactive view of supply chain performance, letting users monitor KPIs and analyze revenue, fulfillment, logistics, inventory, supplier performance, and returns.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3" name="Shape 300"/>
          <p:cNvSpPr/>
          <p:nvPr/>
        </p:nvSpPr>
        <p:spPr>
          <a:xfrm>
            <a:off x="548640" y="2049840"/>
            <a:ext cx="5409360" cy="2149200"/>
          </a:xfrm>
          <a:prstGeom prst="roundRect">
            <a:avLst>
              <a:gd name="adj" fmla="val 9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4" name="Shape 301"/>
          <p:cNvSpPr/>
          <p:nvPr/>
        </p:nvSpPr>
        <p:spPr>
          <a:xfrm>
            <a:off x="822960" y="2324160"/>
            <a:ext cx="410760" cy="4107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5" name="Text 302"/>
          <p:cNvSpPr/>
          <p:nvPr/>
        </p:nvSpPr>
        <p:spPr>
          <a:xfrm>
            <a:off x="822960" y="232416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6" name="Text 303"/>
          <p:cNvSpPr/>
          <p:nvPr/>
        </p:nvSpPr>
        <p:spPr>
          <a:xfrm>
            <a:off x="1417320" y="2324160"/>
            <a:ext cx="42663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Dashboard 1 — Supply Chain Performance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7" name="Text 304"/>
          <p:cNvSpPr/>
          <p:nvPr/>
        </p:nvSpPr>
        <p:spPr>
          <a:xfrm>
            <a:off x="822960" y="2964240"/>
            <a:ext cx="4860720" cy="30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Purpose: </a:t>
            </a: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Provide an executive-level overview of business performance.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400"/>
              </a:lnSpc>
              <a:spcBef>
                <a:spcPts val="700"/>
              </a:spcBef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KPIs: </a:t>
            </a: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Total Sales · Total Orders · Fulfillment Rate · Return Rate · Low Inventory Rate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400"/>
              </a:lnSpc>
              <a:spcBef>
                <a:spcPts val="700"/>
              </a:spcBef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Key Visualizations: </a:t>
            </a: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Monthly Revenue Trend · Revenue by Warehouse · Orders by Transport Mode · Revenue by Category · Order Fulfillment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400"/>
              </a:lnSpc>
              <a:spcBef>
                <a:spcPts val="700"/>
              </a:spcBef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8" name="Shape 305"/>
          <p:cNvSpPr/>
          <p:nvPr/>
        </p:nvSpPr>
        <p:spPr>
          <a:xfrm>
            <a:off x="6233040" y="2049840"/>
            <a:ext cx="5409360" cy="2299320"/>
          </a:xfrm>
          <a:prstGeom prst="roundRect">
            <a:avLst>
              <a:gd name="adj" fmla="val 9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9" name="Shape 306"/>
          <p:cNvSpPr/>
          <p:nvPr/>
        </p:nvSpPr>
        <p:spPr>
          <a:xfrm>
            <a:off x="6507360" y="2324160"/>
            <a:ext cx="410760" cy="410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0" name="Text 307"/>
          <p:cNvSpPr/>
          <p:nvPr/>
        </p:nvSpPr>
        <p:spPr>
          <a:xfrm>
            <a:off x="6507360" y="232416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1" name="Text 308"/>
          <p:cNvSpPr/>
          <p:nvPr/>
        </p:nvSpPr>
        <p:spPr>
          <a:xfrm>
            <a:off x="7101720" y="2324160"/>
            <a:ext cx="42663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Dashboard 2 — Inventory, Supplier &amp; Returns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2" name="Text 309"/>
          <p:cNvSpPr/>
          <p:nvPr/>
        </p:nvSpPr>
        <p:spPr>
          <a:xfrm>
            <a:off x="6507360" y="2964240"/>
            <a:ext cx="4860720" cy="30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Purpose: </a:t>
            </a: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Identify operational risks and supplier/inventory performance.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400"/>
              </a:lnSpc>
              <a:spcBef>
                <a:spcPts val="700"/>
              </a:spcBef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KPIs: </a:t>
            </a: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Delayed Orders · In Transit Orders · Average Delivery Days · Total Suppliers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400"/>
              </a:lnSpc>
              <a:spcBef>
                <a:spcPts val="700"/>
              </a:spcBef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Key Visualizations: </a:t>
            </a: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Revenue by Supplier · Supplier Fulfillment Performance · Inventory Level by Category · Return Rate by Category · Inventory Risk Distribution · Top 10 Products by Revenue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101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Key Insights from the Dashboard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4" name="Text 102"/>
          <p:cNvSpPr/>
          <p:nvPr/>
        </p:nvSpPr>
        <p:spPr>
          <a:xfrm>
            <a:off x="548640" y="9327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7"/>
                </a:solidFill>
                <a:uFillTx/>
                <a:latin typeface="Calibri"/>
                <a:ea typeface="Calibri"/>
              </a:rPr>
              <a:t>What the Power BI Dashboards Reveal About Performance and Risk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5" name="Text 103"/>
          <p:cNvSpPr/>
          <p:nvPr/>
        </p:nvSpPr>
        <p:spPr>
          <a:xfrm>
            <a:off x="548640" y="1371600"/>
            <a:ext cx="110941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 Power BI dashboards revealed important patterns in revenue, fulfillment, logistics, inventory, supplier performance, and product returns that highlight where operational improvements are needed.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6" name="Text 104"/>
          <p:cNvSpPr/>
          <p:nvPr/>
        </p:nvSpPr>
        <p:spPr>
          <a:xfrm>
            <a:off x="548640" y="2286000"/>
            <a:ext cx="3999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Key Findings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7" name="Shape 105"/>
          <p:cNvSpPr/>
          <p:nvPr/>
        </p:nvSpPr>
        <p:spPr>
          <a:xfrm>
            <a:off x="548640" y="2651760"/>
            <a:ext cx="5409360" cy="899280"/>
          </a:xfrm>
          <a:prstGeom prst="roundRect">
            <a:avLst>
              <a:gd name="adj" fmla="val 22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8" name="Shape 106"/>
          <p:cNvSpPr/>
          <p:nvPr/>
        </p:nvSpPr>
        <p:spPr>
          <a:xfrm>
            <a:off x="731520" y="2896200"/>
            <a:ext cx="410760" cy="410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9" name="Text 107"/>
          <p:cNvSpPr/>
          <p:nvPr/>
        </p:nvSpPr>
        <p:spPr>
          <a:xfrm>
            <a:off x="731520" y="28962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0" name="Text 108"/>
          <p:cNvSpPr/>
          <p:nvPr/>
        </p:nvSpPr>
        <p:spPr>
          <a:xfrm>
            <a:off x="1280160" y="2743200"/>
            <a:ext cx="4540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Revenue Concentration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1" name="Text 109"/>
          <p:cNvSpPr/>
          <p:nvPr/>
        </p:nvSpPr>
        <p:spPr>
          <a:xfrm>
            <a:off x="1280160" y="3063240"/>
            <a:ext cx="454068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Electronics drives ~₹2.2B in revenue, far ahead of Office and Accessories — the business is highly dependent on this one category.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2" name="Shape 110"/>
          <p:cNvSpPr/>
          <p:nvPr/>
        </p:nvSpPr>
        <p:spPr>
          <a:xfrm>
            <a:off x="6233040" y="2651760"/>
            <a:ext cx="5409360" cy="899280"/>
          </a:xfrm>
          <a:prstGeom prst="roundRect">
            <a:avLst>
              <a:gd name="adj" fmla="val 22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3" name="Shape 111"/>
          <p:cNvSpPr/>
          <p:nvPr/>
        </p:nvSpPr>
        <p:spPr>
          <a:xfrm>
            <a:off x="6415920" y="2896200"/>
            <a:ext cx="410760" cy="410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4" name="Text 112"/>
          <p:cNvSpPr/>
          <p:nvPr/>
        </p:nvSpPr>
        <p:spPr>
          <a:xfrm>
            <a:off x="6415920" y="28962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5" name="Text 113"/>
          <p:cNvSpPr/>
          <p:nvPr/>
        </p:nvSpPr>
        <p:spPr>
          <a:xfrm>
            <a:off x="6964560" y="2743200"/>
            <a:ext cx="4540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Warehouse Performance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6" name="Text 114"/>
          <p:cNvSpPr/>
          <p:nvPr/>
        </p:nvSpPr>
        <p:spPr>
          <a:xfrm>
            <a:off x="6964560" y="3063240"/>
            <a:ext cx="454068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Pune leads warehouse revenue at ~₹1.4B, ahead of Hyderabad, Chennai, and Bangalore — a model worth replicating elsewhere.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7" name="Shape 115"/>
          <p:cNvSpPr/>
          <p:nvPr/>
        </p:nvSpPr>
        <p:spPr>
          <a:xfrm>
            <a:off x="548640" y="3643200"/>
            <a:ext cx="5409360" cy="899280"/>
          </a:xfrm>
          <a:prstGeom prst="roundRect">
            <a:avLst>
              <a:gd name="adj" fmla="val 22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8" name="Shape 116"/>
          <p:cNvSpPr/>
          <p:nvPr/>
        </p:nvSpPr>
        <p:spPr>
          <a:xfrm>
            <a:off x="731520" y="3887640"/>
            <a:ext cx="410760" cy="410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9" name="Text 117"/>
          <p:cNvSpPr/>
          <p:nvPr/>
        </p:nvSpPr>
        <p:spPr>
          <a:xfrm>
            <a:off x="731520" y="38876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0" name="Text 118"/>
          <p:cNvSpPr/>
          <p:nvPr/>
        </p:nvSpPr>
        <p:spPr>
          <a:xfrm>
            <a:off x="1280160" y="3734640"/>
            <a:ext cx="4540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Transportation &amp; Fulfillment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1" name="Text 119"/>
          <p:cNvSpPr/>
          <p:nvPr/>
        </p:nvSpPr>
        <p:spPr>
          <a:xfrm>
            <a:off x="1280160" y="4054680"/>
            <a:ext cx="454068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Road transport handles the most orders (~1.6K), yet only 41.12% of orders are delivered — the rest sit pending, delayed, or in transit.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2" name="Shape 120"/>
          <p:cNvSpPr/>
          <p:nvPr/>
        </p:nvSpPr>
        <p:spPr>
          <a:xfrm>
            <a:off x="6233040" y="3643200"/>
            <a:ext cx="5409360" cy="899280"/>
          </a:xfrm>
          <a:prstGeom prst="roundRect">
            <a:avLst>
              <a:gd name="adj" fmla="val 22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3" name="Shape 121"/>
          <p:cNvSpPr/>
          <p:nvPr/>
        </p:nvSpPr>
        <p:spPr>
          <a:xfrm>
            <a:off x="6415920" y="3887640"/>
            <a:ext cx="410760" cy="410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54" name="Text 122"/>
          <p:cNvSpPr/>
          <p:nvPr/>
        </p:nvSpPr>
        <p:spPr>
          <a:xfrm>
            <a:off x="6415920" y="38876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5" name="Text 123"/>
          <p:cNvSpPr/>
          <p:nvPr/>
        </p:nvSpPr>
        <p:spPr>
          <a:xfrm>
            <a:off x="6964560" y="3734640"/>
            <a:ext cx="4540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Delivery Performance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6" name="Text 124"/>
          <p:cNvSpPr/>
          <p:nvPr/>
        </p:nvSpPr>
        <p:spPr>
          <a:xfrm>
            <a:off x="6964560" y="4054680"/>
            <a:ext cx="454068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Average delivery time is 4.84 days — a benchmark to compare against the company's target delivery SLAs.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7" name="Shape 125"/>
          <p:cNvSpPr/>
          <p:nvPr/>
        </p:nvSpPr>
        <p:spPr>
          <a:xfrm>
            <a:off x="548640" y="4634640"/>
            <a:ext cx="5409360" cy="899280"/>
          </a:xfrm>
          <a:prstGeom prst="roundRect">
            <a:avLst>
              <a:gd name="adj" fmla="val 22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8" name="Shape 126"/>
          <p:cNvSpPr/>
          <p:nvPr/>
        </p:nvSpPr>
        <p:spPr>
          <a:xfrm>
            <a:off x="731520" y="4879080"/>
            <a:ext cx="410760" cy="410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59" name="Text 127"/>
          <p:cNvSpPr/>
          <p:nvPr/>
        </p:nvSpPr>
        <p:spPr>
          <a:xfrm>
            <a:off x="731520" y="487908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0" name="Text 128"/>
          <p:cNvSpPr/>
          <p:nvPr/>
        </p:nvSpPr>
        <p:spPr>
          <a:xfrm>
            <a:off x="1280160" y="4726080"/>
            <a:ext cx="4540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Inventory Risk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1" name="Text 129"/>
          <p:cNvSpPr/>
          <p:nvPr/>
        </p:nvSpPr>
        <p:spPr>
          <a:xfrm>
            <a:off x="1280160" y="5046120"/>
            <a:ext cx="454068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55.9% of inventory sits in medium or low-stock risk (37.97% / 17.93%); only 44.10% is classified as healthy stock.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2" name="Shape 130"/>
          <p:cNvSpPr/>
          <p:nvPr/>
        </p:nvSpPr>
        <p:spPr>
          <a:xfrm>
            <a:off x="6233040" y="4634640"/>
            <a:ext cx="5409360" cy="899280"/>
          </a:xfrm>
          <a:prstGeom prst="roundRect">
            <a:avLst>
              <a:gd name="adj" fmla="val 2200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3" name="Shape 131"/>
          <p:cNvSpPr/>
          <p:nvPr/>
        </p:nvSpPr>
        <p:spPr>
          <a:xfrm>
            <a:off x="6415920" y="4879080"/>
            <a:ext cx="410760" cy="410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4" name="Text 132"/>
          <p:cNvSpPr/>
          <p:nvPr/>
        </p:nvSpPr>
        <p:spPr>
          <a:xfrm>
            <a:off x="6415920" y="487908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6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5" name="Text 133"/>
          <p:cNvSpPr/>
          <p:nvPr/>
        </p:nvSpPr>
        <p:spPr>
          <a:xfrm>
            <a:off x="6964560" y="4726080"/>
            <a:ext cx="4540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uFillTx/>
                <a:latin typeface="Calibri"/>
                <a:ea typeface="Calibri"/>
              </a:rPr>
              <a:t>Supplier Performance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6" name="Text 134"/>
          <p:cNvSpPr/>
          <p:nvPr/>
        </p:nvSpPr>
        <p:spPr>
          <a:xfrm>
            <a:off x="6964560" y="5046120"/>
            <a:ext cx="454068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Canon leads supplier revenue (~₹660M), but high revenue doesn't mean high fulfillment — Samsung fulfills best (~50%) while Dell lags (~34%).</a:t>
            </a:r>
            <a:endParaRPr lang="en-US" sz="10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7" name="Shape 135"/>
          <p:cNvSpPr/>
          <p:nvPr/>
        </p:nvSpPr>
        <p:spPr>
          <a:xfrm>
            <a:off x="548640" y="5626080"/>
            <a:ext cx="11094120" cy="899280"/>
          </a:xfrm>
          <a:prstGeom prst="roundRect">
            <a:avLst>
              <a:gd name="adj" fmla="val 18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8" name="Shape 136"/>
          <p:cNvSpPr/>
          <p:nvPr/>
        </p:nvSpPr>
        <p:spPr>
          <a:xfrm>
            <a:off x="777240" y="5870520"/>
            <a:ext cx="410760" cy="410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9" name="Text 137"/>
          <p:cNvSpPr/>
          <p:nvPr/>
        </p:nvSpPr>
        <p:spPr>
          <a:xfrm>
            <a:off x="777240" y="587052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7293"/>
                </a:solidFill>
                <a:uFillTx/>
                <a:latin typeface="Calibri"/>
                <a:ea typeface="Calibri"/>
              </a:rPr>
              <a:t>7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70" name="Text 138"/>
          <p:cNvSpPr/>
          <p:nvPr/>
        </p:nvSpPr>
        <p:spPr>
          <a:xfrm>
            <a:off x="1371600" y="5717520"/>
            <a:ext cx="100425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Return Rate</a:t>
            </a:r>
            <a:endParaRPr lang="en-US" sz="13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71" name="Text 139"/>
          <p:cNvSpPr/>
          <p:nvPr/>
        </p:nvSpPr>
        <p:spPr>
          <a:xfrm>
            <a:off x="1371600" y="6037560"/>
            <a:ext cx="1004256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F4F8"/>
                </a:solidFill>
                <a:uFillTx/>
                <a:latin typeface="Calibri"/>
                <a:ea typeface="Calibri"/>
              </a:rPr>
              <a:t>Overall return rate is 49.9%, with category-level rates near the same mark — a high enough figure to warrant investigating product, quality, fulfillment, or customer-experience causes.</a:t>
            </a:r>
            <a:endParaRPr lang="en-US" sz="10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548640" y="320040"/>
            <a:ext cx="9143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uFillTx/>
                <a:latin typeface="Cambria"/>
              </a:rPr>
              <a:t>Power BI Dashboard – Supply Chain Performance</a:t>
            </a:r>
            <a:endParaRPr lang="en-US" sz="2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548640" y="804600"/>
            <a:ext cx="1005768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C7D6E0"/>
                </a:solidFill>
                <a:uFillTx/>
                <a:latin typeface="Calibri"/>
              </a:rPr>
              <a:t>Total sales, fulfillment rate, monthly revenue trend, and orders by warehouse/mode/category</a:t>
            </a:r>
            <a:endParaRPr lang="en-US" sz="12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274" name="Picture 3" descr="crop1_final.png"/>
          <p:cNvPicPr/>
          <p:nvPr/>
        </p:nvPicPr>
        <p:blipFill>
          <a:blip r:embed="rId2"/>
          <a:stretch/>
        </p:blipFill>
        <p:spPr>
          <a:xfrm>
            <a:off x="1440360" y="1350000"/>
            <a:ext cx="9310320" cy="5149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1"/>
          <p:cNvSpPr/>
          <p:nvPr/>
        </p:nvSpPr>
        <p:spPr>
          <a:xfrm>
            <a:off x="548640" y="320040"/>
            <a:ext cx="9143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uFillTx/>
                <a:latin typeface="Cambria"/>
              </a:rPr>
              <a:t>Power BI Dashboard – Inventory, Supplier &amp; Returns</a:t>
            </a:r>
            <a:endParaRPr lang="en-US" sz="2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6" name="TextBox 2"/>
          <p:cNvSpPr/>
          <p:nvPr/>
        </p:nvSpPr>
        <p:spPr>
          <a:xfrm>
            <a:off x="548640" y="804600"/>
            <a:ext cx="1005768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C7D6E0"/>
                </a:solidFill>
                <a:uFillTx/>
                <a:latin typeface="Calibri"/>
              </a:rPr>
              <a:t>Supplier fulfillment performance, inventory risk distribution, and top products by revenue</a:t>
            </a:r>
            <a:endParaRPr lang="en-US" sz="12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277" name="Picture 3" descr="crop2_final.png"/>
          <p:cNvPicPr/>
          <p:nvPr/>
        </p:nvPicPr>
        <p:blipFill>
          <a:blip r:embed="rId2"/>
          <a:stretch/>
        </p:blipFill>
        <p:spPr>
          <a:xfrm>
            <a:off x="1440360" y="1350000"/>
            <a:ext cx="9310320" cy="5149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Milestone 3: Advanced Power BI Visualizations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48640" y="1234440"/>
            <a:ext cx="11063520" cy="2879640"/>
          </a:xfrm>
          <a:prstGeom prst="roundRect">
            <a:avLst>
              <a:gd name="adj" fmla="val 3175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234440"/>
            <a:ext cx="81720" cy="2879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0680" tIns="45000" rIns="4068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3" name="Text 3"/>
          <p:cNvSpPr/>
          <p:nvPr/>
        </p:nvSpPr>
        <p:spPr>
          <a:xfrm>
            <a:off x="960120" y="1481400"/>
            <a:ext cx="10332000" cy="242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Milestone 3 focuses on advanced Power BI visualizations for supply chain analysis.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 dashboards provide interactive insights into transportation costs, warehouse performance, delivery efficiency, transport modes, and key business trends.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Advanced visuals such as Scorecards, Maps, Matrices, Decomposition Trees, Q&amp;A, and Narrative Insights are used to improve data exploration and decision-making.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44348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5B6B77"/>
                </a:solidFill>
                <a:uFillTx/>
                <a:latin typeface="Calibri"/>
                <a:ea typeface="Calibri"/>
              </a:rPr>
              <a:t>KEY VISUALS USED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54864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6" name="Text 6"/>
          <p:cNvSpPr/>
          <p:nvPr/>
        </p:nvSpPr>
        <p:spPr>
          <a:xfrm>
            <a:off x="54864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Scorecards &amp; Maps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404800" y="4800600"/>
            <a:ext cx="1942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404800" y="4800600"/>
            <a:ext cx="1942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Transportation Matrix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4549320" y="4800600"/>
            <a:ext cx="2230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9320" y="4800600"/>
            <a:ext cx="2230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Decomposition Tree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698148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698148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Q&amp;A + Narrative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548640" y="320040"/>
            <a:ext cx="9143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uFillTx/>
                <a:latin typeface="Cambria"/>
              </a:rPr>
              <a:t>Milestone 3: Advanced Power BI Visualizations</a:t>
            </a:r>
            <a:endParaRPr lang="en-US" sz="2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548640" y="804600"/>
            <a:ext cx="1005768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C7D6E0"/>
                </a:solidFill>
                <a:uFillTx/>
                <a:latin typeface="Calibri"/>
              </a:rPr>
              <a:t>Part 1 of 2 — Scorecard using Map &amp; Transportation Cost using Matrix</a:t>
            </a:r>
            <a:endParaRPr lang="en-US" sz="12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400" name="Picture 400" descr="dashboard1_scorecard.png"/>
          <p:cNvPicPr/>
          <p:nvPr/>
        </p:nvPicPr>
        <p:blipFill>
          <a:blip r:embed="rId2"/>
          <a:stretch/>
        </p:blipFill>
        <p:spPr>
          <a:xfrm>
            <a:off x="54864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Picture 401" descr="dashboard2_transportcost.png"/>
          <p:cNvPicPr/>
          <p:nvPr/>
        </p:nvPicPr>
        <p:blipFill>
          <a:blip r:embed="rId3"/>
          <a:stretch/>
        </p:blipFill>
        <p:spPr>
          <a:xfrm>
            <a:off x="623316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Caption 402"/>
          <p:cNvSpPr/>
          <p:nvPr/>
        </p:nvSpPr>
        <p:spPr>
          <a:xfrm>
            <a:off x="54864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</a:rPr>
              <a:t>Dashboard 1: Supplier Scorecard using Map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03" name="Caption 403"/>
          <p:cNvSpPr/>
          <p:nvPr/>
        </p:nvSpPr>
        <p:spPr>
          <a:xfrm>
            <a:off x="623316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</a:rPr>
              <a:t>Dashboard 2: Transportation Cost Analysis using Matrix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00" name="Card 500"/>
          <p:cNvSpPr/>
          <p:nvPr/>
        </p:nvSpPr>
        <p:spPr>
          <a:xfrm>
            <a:off x="54864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01" name="CardLabel 501"/>
          <p:cNvSpPr/>
          <p:nvPr/>
        </p:nvSpPr>
        <p:spPr>
          <a:xfrm>
            <a:off x="68580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1. Scorecard using Map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02" name="CardPurpose 502"/>
          <p:cNvSpPr/>
          <p:nvPr/>
        </p:nvSpPr>
        <p:spPr>
          <a:xfrm>
            <a:off x="68580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High-level overview of supply chain performance using KPI scorecards and geographic map analysis.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03" name="CardKPI 503"/>
          <p:cNvSpPr/>
          <p:nvPr/>
        </p:nvSpPr>
        <p:spPr>
          <a:xfrm>
            <a:off x="68580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Total Suppliers · On-Time Delivery % · Avg Delivery Days · Avg Transport Cost · Return Rate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04" name="CardVis 504"/>
          <p:cNvSpPr/>
          <p:nvPr/>
        </p:nvSpPr>
        <p:spPr>
          <a:xfrm>
            <a:off x="68580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Filled Map by State · Supplier Performance Bar Chart · Revenue by Supplier Donut · Return Rate by Supplier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0" name="Card 510"/>
          <p:cNvSpPr/>
          <p:nvPr/>
        </p:nvSpPr>
        <p:spPr>
          <a:xfrm>
            <a:off x="623316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11" name="CardLabel 511"/>
          <p:cNvSpPr/>
          <p:nvPr/>
        </p:nvSpPr>
        <p:spPr>
          <a:xfrm>
            <a:off x="637032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2. Transportation Cost using Matrix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12" name="CardPurpose 512"/>
          <p:cNvSpPr/>
          <p:nvPr/>
        </p:nvSpPr>
        <p:spPr>
          <a:xfrm>
            <a:off x="637032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Compares estimated transportation costs across warehouses and transport modes (Air, Rail, Road, Sea) using a matrix visual.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13" name="CardKPI 513"/>
          <p:cNvSpPr/>
          <p:nvPr/>
        </p:nvSpPr>
        <p:spPr>
          <a:xfrm>
            <a:off x="637032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Total Estimated Transport Cost · Avg Transport Base Rate · Avg Estimated Transport Cost · Cost Difference %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4" name="CardVis 514"/>
          <p:cNvSpPr/>
          <p:nvPr/>
        </p:nvSpPr>
        <p:spPr>
          <a:xfrm>
            <a:off x="637032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Transportation Cost Matrix · Cost by Transport Mode Bar Chart · Base Rate vs Estimated Cost · Cost by Warehouse</a:t>
            </a:r>
            <a:endParaRPr lang="en-US" sz="8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548640" y="320040"/>
            <a:ext cx="9143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uFillTx/>
                <a:latin typeface="Cambria"/>
              </a:rPr>
              <a:t>Milestone 3: Advanced Power BI Visualizations</a:t>
            </a:r>
            <a:endParaRPr lang="en-US" sz="2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548640" y="804600"/>
            <a:ext cx="1005768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C7D6E0"/>
                </a:solidFill>
                <a:uFillTx/>
                <a:latin typeface="Calibri"/>
              </a:rPr>
              <a:t>Part 2 of 2 — Decomposition Tree &amp; Q&amp;A / Narrative Insights</a:t>
            </a:r>
            <a:endParaRPr lang="en-US" sz="12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400" name="Picture 400" descr="dashboard3_routecarrier.png"/>
          <p:cNvPicPr/>
          <p:nvPr/>
        </p:nvPicPr>
        <p:blipFill>
          <a:blip r:embed="rId2"/>
          <a:stretch/>
        </p:blipFill>
        <p:spPr>
          <a:xfrm>
            <a:off x="54864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Picture 401" descr="dashboard4_advancedkpi.png"/>
          <p:cNvPicPr/>
          <p:nvPr/>
        </p:nvPicPr>
        <p:blipFill>
          <a:blip r:embed="rId3"/>
          <a:stretch/>
        </p:blipFill>
        <p:spPr>
          <a:xfrm>
            <a:off x="623316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Caption 402"/>
          <p:cNvSpPr/>
          <p:nvPr/>
        </p:nvSpPr>
        <p:spPr>
          <a:xfrm>
            <a:off x="54864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</a:rPr>
              <a:t>Dashboard 3: Route &amp; Carrier Performance using Decomposition Tree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03" name="Caption 403"/>
          <p:cNvSpPr/>
          <p:nvPr/>
        </p:nvSpPr>
        <p:spPr>
          <a:xfrm>
            <a:off x="623316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</a:rPr>
              <a:t>Dashboard 4: Advanced KPI Visualization with Q&amp;A and Narrative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00" name="Card 500"/>
          <p:cNvSpPr/>
          <p:nvPr/>
        </p:nvSpPr>
        <p:spPr>
          <a:xfrm>
            <a:off x="54864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01" name="CardLabel 501"/>
          <p:cNvSpPr/>
          <p:nvPr/>
        </p:nvSpPr>
        <p:spPr>
          <a:xfrm>
            <a:off x="68580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3. Route &amp; Carrier Performance using Decomposition Tree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02" name="CardPurpose 502"/>
          <p:cNvSpPr/>
          <p:nvPr/>
        </p:nvSpPr>
        <p:spPr>
          <a:xfrm>
            <a:off x="68580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Breaks down supply chain performance across Warehouse, State, Delivery Status, Transport Mode, and Supplier via an interactive drill-down tree.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03" name="CardKPI 503"/>
          <p:cNvSpPr/>
          <p:nvPr/>
        </p:nvSpPr>
        <p:spPr>
          <a:xfrm>
            <a:off x="68580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Total Orders · Delayed Orders · Delay Rate · Avg Delivery Days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04" name="CardVis 504"/>
          <p:cNvSpPr/>
          <p:nvPr/>
        </p:nvSpPr>
        <p:spPr>
          <a:xfrm>
            <a:off x="68580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Decomposition Tree · Route Delivery Performance Bar Chart · Transport Mode Performance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0" name="Card 510"/>
          <p:cNvSpPr/>
          <p:nvPr/>
        </p:nvSpPr>
        <p:spPr>
          <a:xfrm>
            <a:off x="623316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11" name="CardLabel 511"/>
          <p:cNvSpPr/>
          <p:nvPr/>
        </p:nvSpPr>
        <p:spPr>
          <a:xfrm>
            <a:off x="637032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4. Q&amp;A and Narrative Insights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12" name="CardPurpose 512"/>
          <p:cNvSpPr/>
          <p:nvPr/>
        </p:nvSpPr>
        <p:spPr>
          <a:xfrm>
            <a:off x="637032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Power BI Q&amp;A lets users ask natural-language questions about the dataset, while Narrative auto-summarizes key insights.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13" name="CardKPI 513"/>
          <p:cNvSpPr/>
          <p:nvPr/>
        </p:nvSpPr>
        <p:spPr>
          <a:xfrm>
            <a:off x="637032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On-Time Delivery % · Avg Delivery Days · Total Estimated Transport Cost · Return Rate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4" name="CardVis 514"/>
          <p:cNvSpPr/>
          <p:nvPr/>
        </p:nvSpPr>
        <p:spPr>
          <a:xfrm>
            <a:off x="637032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Q&amp;A Visual · Narrative / Summary · On-Time Delivery Gauge · Monthly Trend Line</a:t>
            </a:r>
            <a:endParaRPr lang="en-US" sz="8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548640" y="320040"/>
            <a:ext cx="9143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uFillTx/>
                <a:latin typeface="Cambria"/>
              </a:rPr>
              <a:t>Milestone 4: Warehouse &amp; Executive Overview</a:t>
            </a:r>
            <a:endParaRPr lang="en-US" sz="2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548640" y="804600"/>
            <a:ext cx="10057680" cy="2832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0" u="none" strike="noStrike" dirty="0">
                <a:solidFill>
                  <a:srgbClr val="C7D6E0"/>
                </a:solidFill>
                <a:uFillTx/>
                <a:latin typeface="Calibri"/>
              </a:rPr>
              <a:t>Part 1 of 2 — Warehouse Efficiency Report &amp; Executive Overview Dashboard</a:t>
            </a:r>
            <a:r>
              <a:rPr lang="en-US" sz="1250" b="0" u="none" strike="noStrike">
                <a:solidFill>
                  <a:srgbClr val="C7D6E0"/>
                </a:solidFill>
                <a:uFillTx/>
                <a:latin typeface="Calibri"/>
              </a:rPr>
              <a:t/>
            </a:r>
            <a:endParaRPr lang="en-US" sz="125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400" name="Picture 400" descr="dashboard5_scorecard_build.png"/>
          <p:cNvPicPr/>
          <p:nvPr/>
        </p:nvPicPr>
        <p:blipFill>
          <a:blip r:embed="rId2"/>
          <a:stretch/>
        </p:blipFill>
        <p:spPr>
          <a:xfrm>
            <a:off x="54864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Picture 401" descr="dashboard6_transportcost_build.png"/>
          <p:cNvPicPr/>
          <p:nvPr/>
        </p:nvPicPr>
        <p:blipFill>
          <a:blip r:embed="rId3"/>
          <a:stretch/>
        </p:blipFill>
        <p:spPr>
          <a:xfrm>
            <a:off x="623316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Caption 402"/>
          <p:cNvSpPr/>
          <p:nvPr/>
        </p:nvSpPr>
        <p:spPr>
          <a:xfrm>
            <a:off x="54864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FFFFFF"/>
                </a:solidFill>
                <a:uFillTx/>
                <a:latin typeface="Calibri"/>
              </a:rPr>
              <a:t>Supplier Scorecard — reviewed for warehouse &amp; supplier efficiency</a:t>
            </a:r>
            <a:endParaRPr lang="en-US" sz="12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03" name="Caption 403"/>
          <p:cNvSpPr/>
          <p:nvPr/>
        </p:nvSpPr>
        <p:spPr>
          <a:xfrm>
            <a:off x="623316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FFFFFF"/>
                </a:solidFill>
                <a:uFillTx/>
                <a:latin typeface="Calibri"/>
              </a:rPr>
              <a:t>Transportation Cost Analysis — feeds the executive cost summary</a:t>
            </a:r>
            <a:endParaRPr lang="en-US" sz="12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00" name="Card 500"/>
          <p:cNvSpPr/>
          <p:nvPr/>
        </p:nvSpPr>
        <p:spPr>
          <a:xfrm>
            <a:off x="54864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01" name="CardLabel 501"/>
          <p:cNvSpPr/>
          <p:nvPr/>
        </p:nvSpPr>
        <p:spPr>
          <a:xfrm>
            <a:off x="68580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1. Warehouse Efficiency Report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02" name="CardPurpose 502"/>
          <p:cNvSpPr/>
          <p:nvPr/>
        </p:nvSpPr>
        <p:spPr>
          <a:xfrm>
            <a:off x="68580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Compares warehouses on revenue, order volume, fulfillment, delivery performance, inventory levels, and transportation performance to flag high- and under-performing sites.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03" name="CardKPI 503"/>
          <p:cNvSpPr/>
          <p:nvPr/>
        </p:nvSpPr>
        <p:spPr>
          <a:xfrm>
            <a:off x="68580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Total Orders by Warehouse · On-Time Delivery % · Avg Delivery Days · Return Rate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04" name="CardVis 504"/>
          <p:cNvSpPr/>
          <p:nvPr/>
        </p:nvSpPr>
        <p:spPr>
          <a:xfrm>
            <a:off x="68580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Revenue &amp; Orders by Warehouse · Cost by Warehouse · Delivery Performance by Warehouse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0" name="Card 510"/>
          <p:cNvSpPr/>
          <p:nvPr/>
        </p:nvSpPr>
        <p:spPr>
          <a:xfrm>
            <a:off x="623316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11" name="CardLabel 511"/>
          <p:cNvSpPr/>
          <p:nvPr/>
        </p:nvSpPr>
        <p:spPr>
          <a:xfrm>
            <a:off x="637032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2. Executive Overview Dashboard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12" name="CardPurpose 512"/>
          <p:cNvSpPr/>
          <p:nvPr/>
        </p:nvSpPr>
        <p:spPr>
          <a:xfrm>
            <a:off x="637032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Gives management a simple, high-level view of the most important supply chain KPIs for quick decision-making.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13" name="CardKPI 513"/>
          <p:cNvSpPr/>
          <p:nvPr/>
        </p:nvSpPr>
        <p:spPr>
          <a:xfrm>
            <a:off x="637032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Total Sales · Total Orders · Fulfillment Rate · Return Rate · Avg Delivery Days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4" name="CardVis 514"/>
          <p:cNvSpPr/>
          <p:nvPr/>
        </p:nvSpPr>
        <p:spPr>
          <a:xfrm>
            <a:off x="637032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Inventory Risk · Warehouse Performance · Supplier Performance Summary</a:t>
            </a:r>
            <a:endParaRPr lang="en-US" sz="8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548640" y="320040"/>
            <a:ext cx="9143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uFillTx/>
                <a:latin typeface="Cambria"/>
              </a:rPr>
              <a:t>Milestone 4: Optimization, Testing &amp; Deployment</a:t>
            </a:r>
            <a:endParaRPr lang="en-US" sz="2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548640" y="804600"/>
            <a:ext cx="10057680" cy="2832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0" u="none" strike="noStrike" dirty="0">
                <a:solidFill>
                  <a:srgbClr val="C7D6E0"/>
                </a:solidFill>
                <a:uFillTx/>
                <a:latin typeface="Calibri"/>
              </a:rPr>
              <a:t>Part 2 of 2 — Dashboard Optimization &amp; Final Testing / Deployment</a:t>
            </a:r>
            <a:endParaRPr lang="en-US" sz="125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400" name="Picture 400" descr="dashboard7_routecarrier_build.png"/>
          <p:cNvPicPr/>
          <p:nvPr/>
        </p:nvPicPr>
        <p:blipFill>
          <a:blip r:embed="rId2"/>
          <a:stretch/>
        </p:blipFill>
        <p:spPr>
          <a:xfrm>
            <a:off x="54864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Picture 401" descr="dashboard8_advancedkpi_build.png"/>
          <p:cNvPicPr/>
          <p:nvPr/>
        </p:nvPicPr>
        <p:blipFill>
          <a:blip r:embed="rId3"/>
          <a:stretch/>
        </p:blipFill>
        <p:spPr>
          <a:xfrm>
            <a:off x="6233160" y="1250280"/>
            <a:ext cx="5410200" cy="304323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Caption 402"/>
          <p:cNvSpPr/>
          <p:nvPr/>
        </p:nvSpPr>
        <p:spPr>
          <a:xfrm>
            <a:off x="54864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FFFFFF"/>
                </a:solidFill>
                <a:uFillTx/>
                <a:latin typeface="Calibri"/>
              </a:rPr>
              <a:t>Route &amp; Carrier Performance — validated during dashboard testing</a:t>
            </a:r>
            <a:endParaRPr lang="en-US" sz="12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03" name="Caption 403"/>
          <p:cNvSpPr/>
          <p:nvPr/>
        </p:nvSpPr>
        <p:spPr>
          <a:xfrm>
            <a:off x="6233160" y="4443518"/>
            <a:ext cx="54102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FFFFFF"/>
                </a:solidFill>
                <a:uFillTx/>
                <a:latin typeface="Calibri"/>
              </a:rPr>
              <a:t>Advanced KPI Visualization — optimized for faster report performance</a:t>
            </a:r>
            <a:endParaRPr lang="en-US" sz="12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00" name="Card 500"/>
          <p:cNvSpPr/>
          <p:nvPr/>
        </p:nvSpPr>
        <p:spPr>
          <a:xfrm>
            <a:off x="54864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01" name="CardLabel 501"/>
          <p:cNvSpPr/>
          <p:nvPr/>
        </p:nvSpPr>
        <p:spPr>
          <a:xfrm>
            <a:off x="68580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3. Optimize Dashboard Performance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02" name="CardPurpose 502"/>
          <p:cNvSpPr/>
          <p:nvPr/>
        </p:nvSpPr>
        <p:spPr>
          <a:xfrm>
            <a:off x="68580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Tuned for faster report loading, efficient DAX measures, a leaner data model, and smoother filter/slicer interactions.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03" name="CardKPI 503"/>
          <p:cNvSpPr/>
          <p:nvPr/>
        </p:nvSpPr>
        <p:spPr>
          <a:xfrm>
            <a:off x="68580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Report Load Time · Visual Count per Page · Query Response Time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04" name="CardVis 504"/>
          <p:cNvSpPr/>
          <p:nvPr/>
        </p:nvSpPr>
        <p:spPr>
          <a:xfrm>
            <a:off x="68580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Faster Loading · Efficient DAX · Reduced Visual Clutter · Optimized Data Model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0" name="Card 510"/>
          <p:cNvSpPr/>
          <p:nvPr/>
        </p:nvSpPr>
        <p:spPr>
          <a:xfrm>
            <a:off x="6233160" y="4884478"/>
            <a:ext cx="5410200" cy="1590000"/>
          </a:xfrm>
          <a:prstGeom prst="roundRect">
            <a:avLst>
              <a:gd name="adj" fmla="val 4000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11" name="CardLabel 511"/>
          <p:cNvSpPr/>
          <p:nvPr/>
        </p:nvSpPr>
        <p:spPr>
          <a:xfrm>
            <a:off x="6370320" y="4953058"/>
            <a:ext cx="5135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uFillTx/>
                <a:latin typeface="Cambria"/>
              </a:rPr>
              <a:t>4. Final Testing, Documentation &amp; Deployment</a:t>
            </a:r>
            <a:endParaRPr lang="en-US" sz="1150" b="0">
              <a:solidFill>
                <a:srgbClr val="FFFFFF"/>
              </a:solidFill>
            </a:endParaRPr>
          </a:p>
        </p:txBody>
      </p:sp>
      <p:sp>
        <p:nvSpPr>
          <p:cNvPr id="512" name="CardPurpose 512"/>
          <p:cNvSpPr/>
          <p:nvPr/>
        </p:nvSpPr>
        <p:spPr>
          <a:xfrm>
            <a:off x="6370320" y="5204518"/>
            <a:ext cx="51358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950" b="0" u="none" strike="noStrike">
                <a:solidFill>
                  <a:srgbClr val="D6E4EC"/>
                </a:solidFill>
                <a:uFillTx/>
                <a:latin typeface="Calibri"/>
              </a:rPr>
              <a:t>KPIs, DAX measures, filters, slicers, and all visuals (Map, Matrix, Decomposition Tree, Q&amp;A, Narrative) were tested for accuracy, then the report was prepared for stakeholder deployment.</a:t>
            </a:r>
            <a:endParaRPr lang="en-US" sz="950">
              <a:solidFill>
                <a:srgbClr val="D6E4EC"/>
              </a:solidFill>
            </a:endParaRPr>
          </a:p>
        </p:txBody>
      </p:sp>
      <p:sp>
        <p:nvSpPr>
          <p:cNvPr id="513" name="CardKPI 513"/>
          <p:cNvSpPr/>
          <p:nvPr/>
        </p:nvSpPr>
        <p:spPr>
          <a:xfrm>
            <a:off x="6370320" y="5634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KPIs: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KPI &amp; DAX Accuracy · Filter / Slicer Behavior · Visual Interactions</a:t>
            </a:r>
            <a:endParaRPr lang="en-US" sz="850">
              <a:solidFill>
                <a:srgbClr val="FFFFFF"/>
              </a:solidFill>
            </a:endParaRPr>
          </a:p>
        </p:txBody>
      </p:sp>
      <p:sp>
        <p:nvSpPr>
          <p:cNvPr id="514" name="CardVis 514"/>
          <p:cNvSpPr/>
          <p:nvPr/>
        </p:nvSpPr>
        <p:spPr>
          <a:xfrm>
            <a:off x="6370320" y="5959478"/>
            <a:ext cx="51358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</a:pPr>
            <a:r>
              <a:rPr lang="en-US" sz="850" b="1" u="none" strike="noStrike">
                <a:solidFill>
                  <a:srgbClr val="6FD9C4"/>
                </a:solidFill>
                <a:uFillTx/>
                <a:latin typeface="Calibri"/>
              </a:rPr>
              <a:t>Visuals: </a:t>
            </a:r>
            <a:r>
              <a:rPr lang="en-US" sz="850" b="0" u="none" strike="noStrike">
                <a:solidFill>
                  <a:srgbClr val="FFFFFF"/>
                </a:solidFill>
                <a:uFillTx/>
                <a:latin typeface="Calibri"/>
              </a:rPr>
              <a:t>Data-Cleaning &amp; DAX Documentation · Dashboard Purpose &amp; Key Insights Doc</a:t>
            </a:r>
            <a:endParaRPr lang="en-US" sz="8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10241280" y="5394960"/>
            <a:ext cx="3291120" cy="329112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822960" y="5943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uFillTx/>
                <a:latin typeface="Cambria"/>
                <a:ea typeface="Cambria"/>
              </a:rPr>
              <a:t>Conclusion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822960" y="1380600"/>
            <a:ext cx="127440" cy="127440"/>
          </a:xfrm>
          <a:prstGeom prst="ellipse">
            <a:avLst/>
          </a:prstGeom>
          <a:solidFill>
            <a:srgbClr val="21C39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720" tIns="45000" rIns="6372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1143000" y="1216080"/>
            <a:ext cx="101491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Dashboard analysis reveals a 41.1% fulfillment rate against a 49.9% return rate — a clear visibility gap between what is ordered and what is successfully fulfilled.</a:t>
            </a:r>
            <a:endParaRPr lang="en-US" sz="14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2" name="Shape 4"/>
          <p:cNvSpPr/>
          <p:nvPr/>
        </p:nvSpPr>
        <p:spPr>
          <a:xfrm>
            <a:off x="822960" y="2039040"/>
            <a:ext cx="127440" cy="127440"/>
          </a:xfrm>
          <a:prstGeom prst="ellipse">
            <a:avLst/>
          </a:prstGeom>
          <a:solidFill>
            <a:srgbClr val="21C39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720" tIns="45000" rIns="6372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1143000" y="1874520"/>
            <a:ext cx="101491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Electronics (~₹2.2B) and the Pune warehouse (~₹1.4B) drive the bulk of revenue, while inventory risk is concentrated in medium/low stock (37.97% / 17.93%) and supplier fulfillment ranges from ~34% (Dell) to ~50% (Samsung).</a:t>
            </a:r>
            <a:endParaRPr lang="en-US" sz="14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4" name="Shape 6"/>
          <p:cNvSpPr/>
          <p:nvPr/>
        </p:nvSpPr>
        <p:spPr>
          <a:xfrm>
            <a:off x="822960" y="2697480"/>
            <a:ext cx="127440" cy="127440"/>
          </a:xfrm>
          <a:prstGeom prst="ellipse">
            <a:avLst/>
          </a:prstGeom>
          <a:solidFill>
            <a:srgbClr val="21C39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720" tIns="45000" rIns="6372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1143000" y="2532960"/>
            <a:ext cx="101491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These insights rest on a solid foundation: the raw 4,129-row dataset was cleaned to 4,122 consistent, analysis-ready rows by resolving 2,261 missing values and removing 7 duplicate records.</a:t>
            </a:r>
            <a:endParaRPr lang="en-US" sz="14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822960" y="3355920"/>
            <a:ext cx="127440" cy="127440"/>
          </a:xfrm>
          <a:prstGeom prst="ellipse">
            <a:avLst/>
          </a:prstGeom>
          <a:solidFill>
            <a:srgbClr val="21C39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720" tIns="45000" rIns="6372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1143000" y="3191400"/>
            <a:ext cx="101491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Together, the cleaned dataset and Power BI dashboards give full visibility into delivery, inventory, and supplier performance — the foundation for supply chain optimization.</a:t>
            </a:r>
            <a:endParaRPr lang="en-US" sz="145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8" name="Shape 10"/>
          <p:cNvSpPr/>
          <p:nvPr/>
        </p:nvSpPr>
        <p:spPr>
          <a:xfrm>
            <a:off x="822960" y="4343400"/>
            <a:ext cx="10515600" cy="360"/>
          </a:xfrm>
          <a:prstGeom prst="line">
            <a:avLst/>
          </a:prstGeom>
          <a:ln w="12700">
            <a:solidFill>
              <a:srgbClr val="3A4A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822960" y="452628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21C39A"/>
                </a:solidFill>
                <a:uFillTx/>
                <a:latin typeface="Calibri"/>
                <a:ea typeface="Calibri"/>
              </a:rPr>
              <a:t>TEAM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822960" y="4937760"/>
            <a:ext cx="1956240" cy="913680"/>
          </a:xfrm>
          <a:prstGeom prst="roundRect">
            <a:avLst>
              <a:gd name="adj" fmla="val 8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1" name="Text 13"/>
          <p:cNvSpPr/>
          <p:nvPr/>
        </p:nvSpPr>
        <p:spPr>
          <a:xfrm>
            <a:off x="896040" y="4937760"/>
            <a:ext cx="18097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Ashvitha S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2" name="Shape 14"/>
          <p:cNvSpPr/>
          <p:nvPr/>
        </p:nvSpPr>
        <p:spPr>
          <a:xfrm>
            <a:off x="2962800" y="4937760"/>
            <a:ext cx="1956240" cy="913680"/>
          </a:xfrm>
          <a:prstGeom prst="roundRect">
            <a:avLst>
              <a:gd name="adj" fmla="val 8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3035880" y="4937760"/>
            <a:ext cx="18097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Chandrika Ruthala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4" name="Shape 16"/>
          <p:cNvSpPr/>
          <p:nvPr/>
        </p:nvSpPr>
        <p:spPr>
          <a:xfrm>
            <a:off x="5102280" y="4937760"/>
            <a:ext cx="1956240" cy="913680"/>
          </a:xfrm>
          <a:prstGeom prst="roundRect">
            <a:avLst>
              <a:gd name="adj" fmla="val 8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5175360" y="4937760"/>
            <a:ext cx="18097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Harish Vishal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7242120" y="4937760"/>
            <a:ext cx="1956240" cy="913680"/>
          </a:xfrm>
          <a:prstGeom prst="roundRect">
            <a:avLst>
              <a:gd name="adj" fmla="val 8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7315200" y="4937760"/>
            <a:ext cx="18097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Aarav Kumar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8" name="Shape 20"/>
          <p:cNvSpPr/>
          <p:nvPr/>
        </p:nvSpPr>
        <p:spPr>
          <a:xfrm>
            <a:off x="9381600" y="4937760"/>
            <a:ext cx="1956240" cy="913680"/>
          </a:xfrm>
          <a:prstGeom prst="roundRect">
            <a:avLst>
              <a:gd name="adj" fmla="val 8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9455040" y="4937760"/>
            <a:ext cx="18097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Ashita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Milestone 3: Approach &amp; Methodology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48640" y="1234440"/>
            <a:ext cx="11063520" cy="2879640"/>
          </a:xfrm>
          <a:prstGeom prst="roundRect">
            <a:avLst>
              <a:gd name="adj" fmla="val 3175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234440"/>
            <a:ext cx="81720" cy="2879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0680" tIns="45000" rIns="4068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3" name="Text 3"/>
          <p:cNvSpPr/>
          <p:nvPr/>
        </p:nvSpPr>
        <p:spPr>
          <a:xfrm>
            <a:off x="960120" y="1481400"/>
            <a:ext cx="10332000" cy="242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Building on the cleaned dataset and DAX measures from Milestone 2, Milestone 3 follows a structured approach to designing advanced Power BI visuals.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Each business question -- supplier performance, transportation cost, route efficiency, or executive KPIs -- was mapped to the advanced visual type best suited to answer it.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Visuals were built, validated against the underlying DAX measures, and refined for clarity before being organized into four focused dashboards.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44348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5B6B77"/>
                </a:solidFill>
                <a:uFillTx/>
                <a:latin typeface="Calibri"/>
                <a:ea typeface="Calibri"/>
              </a:rPr>
              <a:t>METHODOLOGY STEPS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54864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6" name="Text 6"/>
          <p:cNvSpPr/>
          <p:nvPr/>
        </p:nvSpPr>
        <p:spPr>
          <a:xfrm>
            <a:off x="54864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Map Business Questions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404800" y="4800600"/>
            <a:ext cx="1942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404800" y="4800600"/>
            <a:ext cx="1942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Select Visual Type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4549320" y="4800600"/>
            <a:ext cx="2230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9320" y="4800600"/>
            <a:ext cx="2230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Build &amp; Validate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698148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698148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Refine for Clarity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Milestone 3: Tools &amp; Techniques Used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48640" y="1234440"/>
            <a:ext cx="11063520" cy="2879640"/>
          </a:xfrm>
          <a:prstGeom prst="roundRect">
            <a:avLst>
              <a:gd name="adj" fmla="val 3175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234440"/>
            <a:ext cx="81720" cy="2879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0680" tIns="45000" rIns="4068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3" name="Text 3"/>
          <p:cNvSpPr/>
          <p:nvPr/>
        </p:nvSpPr>
        <p:spPr>
          <a:xfrm>
            <a:off x="960120" y="1481400"/>
            <a:ext cx="10332000" cy="242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Power BI Desktop was used throughout, extending the DAX measures from Milestone 2 with advanced, interactive visual types.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Filled Maps and Matrix visuals surface geographic and cost patterns, while the Decomposition Tree enables drill-down analysis by warehouse, state, and supplier.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 Q&amp;A visual and Narrative Insights add natural-language exploration and automated summaries on top of the existing dashboard model.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44348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5B6B77"/>
                </a:solidFill>
                <a:uFillTx/>
                <a:latin typeface="Calibri"/>
                <a:ea typeface="Calibri"/>
              </a:rPr>
              <a:t>TOOLS &amp; TECHNIQUES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54864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6" name="Text 6"/>
          <p:cNvSpPr/>
          <p:nvPr/>
        </p:nvSpPr>
        <p:spPr>
          <a:xfrm>
            <a:off x="54864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Power BI Desktop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404800" y="4800600"/>
            <a:ext cx="1942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404800" y="4800600"/>
            <a:ext cx="1942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Filled Map &amp; Matrix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4549320" y="4800600"/>
            <a:ext cx="2230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9320" y="4800600"/>
            <a:ext cx="2230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Decomposition Tree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698148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698148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Q&amp;A + Narrative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Milestone 4: Approach &amp; Methodology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48640" y="1234440"/>
            <a:ext cx="11063520" cy="2879640"/>
          </a:xfrm>
          <a:prstGeom prst="roundRect">
            <a:avLst>
              <a:gd name="adj" fmla="val 3175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234440"/>
            <a:ext cx="81720" cy="2879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0680" tIns="45000" rIns="4068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3" name="Text 3"/>
          <p:cNvSpPr/>
          <p:nvPr/>
        </p:nvSpPr>
        <p:spPr>
          <a:xfrm>
            <a:off x="960120" y="1481400"/>
            <a:ext cx="10332000" cy="242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Milestone 4 shifts focus from building visuals to evaluating performance, consolidating results into executive-ready views, and preparing the report for deployment.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Warehouse and supplier metrics from earlier dashboards were aggregated into efficiency and executive overview reports for quick, high-level decision-making.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The report was then optimized for speed and reliability, and every KPI, DAX measure, and visual was tested before final documentation and deployment.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44348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5B6B77"/>
                </a:solidFill>
                <a:uFillTx/>
                <a:latin typeface="Calibri"/>
                <a:ea typeface="Calibri"/>
              </a:rPr>
              <a:t>METHODOLOGY STEPS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54864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6" name="Text 6"/>
          <p:cNvSpPr/>
          <p:nvPr/>
        </p:nvSpPr>
        <p:spPr>
          <a:xfrm>
            <a:off x="54864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Aggregate &amp; Summarize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404800" y="4800600"/>
            <a:ext cx="1942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404800" y="4800600"/>
            <a:ext cx="1942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Build Executive View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4549320" y="4800600"/>
            <a:ext cx="2230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9320" y="4800600"/>
            <a:ext cx="2230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Optimize Performance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698148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698148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Test &amp; Deploy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430"/>
                </a:solidFill>
                <a:uFillTx/>
                <a:latin typeface="Cambria"/>
                <a:ea typeface="Cambria"/>
              </a:rPr>
              <a:t>Milestone 4: Tools &amp; Techniques Used</a:t>
            </a: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48640" y="1234440"/>
            <a:ext cx="11063520" cy="2879640"/>
          </a:xfrm>
          <a:prstGeom prst="roundRect">
            <a:avLst>
              <a:gd name="adj" fmla="val 3175"/>
            </a:avLst>
          </a:prstGeom>
          <a:solidFill>
            <a:srgbClr val="F4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234440"/>
            <a:ext cx="81720" cy="2879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0680" tIns="45000" rIns="4068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3" name="Text 3"/>
          <p:cNvSpPr/>
          <p:nvPr/>
        </p:nvSpPr>
        <p:spPr>
          <a:xfrm>
            <a:off x="960120" y="1481400"/>
            <a:ext cx="10332000" cy="242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Power BI Desktop remained the core tool, with the Performance Analyzer used to profile report load time and query response.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DAX measures were streamlined and the data model simplified to reduce visual clutter and speed up filter and slicer interactions.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30"/>
                </a:solidFill>
                <a:uFillTx/>
                <a:latin typeface="Calibri"/>
                <a:ea typeface="Calibri"/>
              </a:rPr>
              <a:t>Final validation covered KPI and DAX accuracy, filter and slicer behavior, and visual interactions, supported by written data-cleaning and dashboard documentation.</a:t>
            </a:r>
            <a:endParaRPr lang="en-US" sz="15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44348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5B6B77"/>
                </a:solidFill>
                <a:uFillTx/>
                <a:latin typeface="Calibri"/>
                <a:ea typeface="Calibri"/>
              </a:rPr>
              <a:t>TOOLS &amp; TECHNIQUES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54864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6" name="Text 6"/>
          <p:cNvSpPr/>
          <p:nvPr/>
        </p:nvSpPr>
        <p:spPr>
          <a:xfrm>
            <a:off x="54864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Power BI Desktop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404800" y="4800600"/>
            <a:ext cx="1942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404800" y="4800600"/>
            <a:ext cx="1942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Performance Analyzer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4549320" y="4800600"/>
            <a:ext cx="223056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9320" y="4800600"/>
            <a:ext cx="2230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DAX Optimization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6981480" y="4800600"/>
            <a:ext cx="1654200" cy="50220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6981480" y="4800600"/>
            <a:ext cx="16542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uFillTx/>
                <a:latin typeface="Calibri"/>
                <a:ea typeface="Calibri"/>
              </a:rPr>
              <a:t>Documentation &amp; Testing</a:t>
            </a:r>
            <a:endParaRPr lang="en-US" sz="125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2232</Words>
  <Application>Microsoft Office PowerPoint</Application>
  <PresentationFormat>Widescreen</PresentationFormat>
  <Paragraphs>308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Noto Sans CJK SC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Ashvitha S</cp:lastModifiedBy>
  <cp:revision>5</cp:revision>
  <dcterms:created xsi:type="dcterms:W3CDTF">2026-08-04T09:15:03Z</dcterms:created>
  <dcterms:modified xsi:type="dcterms:W3CDTF">2026-08-25T12:11:10Z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Widescreen</vt:lpwstr>
  </property>
  <property fmtid="{D5CDD505-2E9C-101B-9397-08002B2CF9AE}" pid="4" name="Slides">
    <vt:r8>9</vt:r8>
  </property>
</Properties>
</file>